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35b98b6776b4eb0" /><Relationship Type="http://schemas.openxmlformats.org/officeDocument/2006/relationships/extended-properties" Target="/docProps/app.xml" Id="R1f02c0b89eaa48a5" /><Relationship Type="http://schemas.openxmlformats.org/officeDocument/2006/relationships/officeDocument" Target="/ppt/presentation.xml" Id="R52fc556ec18f41cf" /></Relationships>
</file>

<file path=ppt/presentation.xml><?xml version="1.0" encoding="utf-8"?>
<p:presentation xmlns:p="http://schemas.openxmlformats.org/presentationml/2006/main">
  <p:sldMasterIdLst>
    <p:sldMasterId xmlns:r="http://schemas.openxmlformats.org/officeDocument/2006/relationships" id="2147483648" r:id="Rfd510f2338ef4883"/>
  </p:sldMasterIdLst>
  <p:notesMasterIdLst>
    <p:notesMasterId xmlns:r="http://schemas.openxmlformats.org/officeDocument/2006/relationships" r:id="R5a1080764e504296"/>
  </p:notesMasterIdLst>
  <p:sldIdLst>
    <p:sldId xmlns:r="http://schemas.openxmlformats.org/officeDocument/2006/relationships" id="256" r:id="R39411aac5e5a44dd"/>
    <p:sldId xmlns:r="http://schemas.openxmlformats.org/officeDocument/2006/relationships" id="257" r:id="R65fd02368e6c430b"/>
    <p:sldId xmlns:r="http://schemas.openxmlformats.org/officeDocument/2006/relationships" id="258" r:id="R2fe018fecda94964"/>
    <p:sldId xmlns:r="http://schemas.openxmlformats.org/officeDocument/2006/relationships" id="259" r:id="R52520a15ad864ccb"/>
    <p:sldId xmlns:r="http://schemas.openxmlformats.org/officeDocument/2006/relationships" id="260" r:id="R1fb1afc2ad764d55"/>
    <p:sldId xmlns:r="http://schemas.openxmlformats.org/officeDocument/2006/relationships" id="261" r:id="Rf9be306d64584609"/>
    <p:sldId xmlns:r="http://schemas.openxmlformats.org/officeDocument/2006/relationships" id="262" r:id="Re239bddf628848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ceaae0d2c34dd8" /><Relationship Type="http://schemas.openxmlformats.org/officeDocument/2006/relationships/slideMaster" Target="/ppt/slideMasters/slideMaster1.xml" Id="Rfd510f2338ef4883" /><Relationship Type="http://schemas.openxmlformats.org/officeDocument/2006/relationships/notesMaster" Target="/ppt/notesMasters/notesMaster1.xml" Id="R5a1080764e504296" /><Relationship Type="http://schemas.openxmlformats.org/officeDocument/2006/relationships/presProps" Target="/ppt/presProps.xml" Id="R5592ba5c0c8e48ea" /><Relationship Type="http://schemas.openxmlformats.org/officeDocument/2006/relationships/tableStyles" Target="/ppt/tableStyles.xml" Id="R3de356fa869a4765" /><Relationship Type="http://schemas.openxmlformats.org/officeDocument/2006/relationships/slide" Target="/ppt/slides/slide1.xml" Id="R39411aac5e5a44dd" /><Relationship Type="http://schemas.openxmlformats.org/officeDocument/2006/relationships/slide" Target="/ppt/slides/slide2.xml" Id="R65fd02368e6c430b" /><Relationship Type="http://schemas.openxmlformats.org/officeDocument/2006/relationships/slide" Target="/ppt/slides/slide3.xml" Id="R2fe018fecda94964" /><Relationship Type="http://schemas.openxmlformats.org/officeDocument/2006/relationships/slide" Target="/ppt/slides/slide4.xml" Id="R52520a15ad864ccb" /><Relationship Type="http://schemas.openxmlformats.org/officeDocument/2006/relationships/slide" Target="/ppt/slides/slide5.xml" Id="R1fb1afc2ad764d55" /><Relationship Type="http://schemas.openxmlformats.org/officeDocument/2006/relationships/slide" Target="/ppt/slides/slide6.xml" Id="Rf9be306d64584609" /><Relationship Type="http://schemas.openxmlformats.org/officeDocument/2006/relationships/slide" Target="/ppt/slides/slide7.xml" Id="Re239bddf628848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ce9607628f4f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27bf6c5a1c46a4" /><Relationship Type="http://schemas.openxmlformats.org/officeDocument/2006/relationships/notesMaster" Target="/ppt/notesMasters/notesMaster1.xml" Id="R2caa0a3d51f14f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7d71b136724058" /><Relationship Type="http://schemas.openxmlformats.org/officeDocument/2006/relationships/notesMaster" Target="/ppt/notesMasters/notesMaster1.xml" Id="R6f1f2d3b6b2b44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02d614ab794957" /><Relationship Type="http://schemas.openxmlformats.org/officeDocument/2006/relationships/notesMaster" Target="/ppt/notesMasters/notesMaster1.xml" Id="Rb1aa6765626a44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54f5b7d27d4806" /><Relationship Type="http://schemas.openxmlformats.org/officeDocument/2006/relationships/notesMaster" Target="/ppt/notesMasters/notesMaster1.xml" Id="R59da2eca3adc48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97a799ec0b4f5f" /><Relationship Type="http://schemas.openxmlformats.org/officeDocument/2006/relationships/notesMaster" Target="/ppt/notesMasters/notesMaster1.xml" Id="R788c2cc06b0743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107ad10b0b4701" /><Relationship Type="http://schemas.openxmlformats.org/officeDocument/2006/relationships/notesMaster" Target="/ppt/notesMasters/notesMaster1.xml" Id="R6110c2289be64c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44ded440714cbc" /><Relationship Type="http://schemas.openxmlformats.org/officeDocument/2006/relationships/notesMaster" Target="/ppt/notesMasters/notesMaster1.xml" Id="R92a9c0a66b0f48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a:t>
            </a:r>
          </a:p>
          <a:p xmlns:a="http://schemas.openxmlformats.org/drawingml/2006/main">
            <a:r>
              <a:t/>
            </a:r>
          </a:p>
          <a:p xmlns:a="http://schemas.openxmlformats.org/drawingml/2006/main">
            <a:r>
              <a:t>Climate resilience is usually tested after the emergency. Grounded lets a hospital test tomorrow before it arrives. It runs the energy system through hundreds of reproducible heat, cloud, demand and outage futures, explains the exact chain behind every critical failure, and proves the smallest operating change on futures the optimizer never saw.</a:t>
            </a:r>
          </a:p>
          <a:p xmlns:a="http://schemas.openxmlformats.org/drawingml/2006/main">
            <a:r>
              <a:t/>
            </a:r>
          </a:p>
          <a:p xmlns:a="http://schemas.openxmlformats.org/drawingml/2006/main">
            <a:r>
              <a:t>Sources:</a:t>
            </a:r>
          </a:p>
          <a:p xmlns:a="http://schemas.openxmlformats.org/drawingml/2006/main">
            <a:r>
              <a:t>- Grounded Engine 2.5 verified public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0:30–1:10</a:t>
            </a:r>
          </a:p>
          <a:p xmlns:a="http://schemas.openxmlformats.org/drawingml/2006/main">
            <a:r>
              <a:t/>
            </a:r>
          </a:p>
          <a:p xmlns:a="http://schemas.openxmlformats.org/drawingml/2006/main">
            <a:r>
              <a:t>This is not a fictional Jaipur problem. A published 2025–26 impact assessment documents a 70-kWp solar plant at Rajkiya Dharamshala, SMS Hospital. A hospital representative reported roughly 80 percent demand coverage and a monthly bill reduction from about ninety thousand to forty thousand rupees. That establishes a real facility and intervention. It does not provide 15-minute meters or prove islanded outage performance—and Grounded says that openly.</a:t>
            </a:r>
          </a:p>
          <a:p xmlns:a="http://schemas.openxmlformats.org/drawingml/2006/main">
            <a:r>
              <a:t/>
            </a:r>
          </a:p>
          <a:p xmlns:a="http://schemas.openxmlformats.org/drawingml/2006/main">
            <a:r>
              <a:t>Sources:</a:t>
            </a:r>
          </a:p>
          <a:p xmlns:a="http://schemas.openxmlformats.org/drawingml/2006/main">
            <a:r>
              <a:t>- https://www.aavas.in/img/pdf/solar-power-plants-in-government-hospitals-2025-26.pdf — pages 9, 17,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1:10–1:50</a:t>
            </a:r>
          </a:p>
          <a:p xmlns:a="http://schemas.openxmlformats.org/drawingml/2006/main">
            <a:r>
              <a:t/>
            </a:r>
          </a:p>
          <a:p xmlns:a="http://schemas.openxmlformats.org/drawingml/2006/main">
            <a:r>
              <a:t>Grounded combines Jaipur NASA POWER climate observations with a disclosed, measured Ausgrid operational reference: quarter-hour demand, measured PV and 9,210 outage/restoration records. It dispatches solar, grid and battery through 288 15-minute intervals for each future. Every run is deterministic, every source is fingerprinted, and the public site executes the engine in the browser, so judging does not depend on a fragile backend.</a:t>
            </a:r>
          </a:p>
          <a:p xmlns:a="http://schemas.openxmlformats.org/drawingml/2006/main">
            <a:r>
              <a:t/>
            </a:r>
          </a:p>
          <a:p xmlns:a="http://schemas.openxmlformats.org/drawingml/2006/main">
            <a:r>
              <a:t>Sources:</a:t>
            </a:r>
          </a:p>
          <a:p xmlns:a="http://schemas.openxmlformats.org/drawingml/2006/main">
            <a:r>
              <a:t>- https://power.larc.nasa.gov/docs/services/api/temporal/hourly/</a:t>
            </a:r>
          </a:p>
          <a:p xmlns:a="http://schemas.openxmlformats.org/drawingml/2006/main">
            <a:r>
              <a:t>- https://www.ausgrid.com.au/about-us/about-ausgrid/research-data-sets/distribution-zone-substation-data</a:t>
            </a:r>
          </a:p>
          <a:p xmlns:a="http://schemas.openxmlformats.org/drawingml/2006/main">
            <a:r>
              <a:t>- https://data.gov.au/data/dataset/solar-home-electricity-data</a:t>
            </a:r>
          </a:p>
          <a:p xmlns:a="http://schemas.openxmlformats.org/drawingml/2006/main">
            <a:r>
              <a:t>- https://data.peclet.com.au/explore/dataset/ausgrid-past-outages/table/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1:50–2:40</a:t>
            </a:r>
          </a:p>
          <a:p xmlns:a="http://schemas.openxmlformats.org/drawingml/2006/main">
            <a:r>
              <a:t/>
            </a:r>
          </a:p>
          <a:p xmlns:a="http://schemas.openxmlformats.org/drawingml/2006/main">
            <a:r>
              <a:t>In the extreme run, 15 of 500 futures lose hospital power: 3.0 percent, with a 95 percent interval of 1.8 to 4.9. Grounded does not stop at that percentage. It shows the first loss timestamp, energy balance, LOLP, LOLE, EENS, CVaR tail risk and the full causal chain. A compact held-out ML surrogate reaches 1.000 AUROC, but it is diagnostic only. Exact physics remains the authority, and seven of seven machine invariants pass.</a:t>
            </a:r>
          </a:p>
          <a:p xmlns:a="http://schemas.openxmlformats.org/drawingml/2006/main">
            <a:r>
              <a:t/>
            </a:r>
          </a:p>
          <a:p xmlns:a="http://schemas.openxmlformats.org/drawingml/2006/main">
            <a:r>
              <a:t>Sources:</a:t>
            </a:r>
          </a:p>
          <a:p xmlns:a="http://schemas.openxmlformats.org/drawingml/2006/main">
            <a:r>
              <a:t>- Grounded Engine 2.5 deterministic run on measured operational reference</a:t>
            </a:r>
          </a:p>
          <a:p xmlns:a="http://schemas.openxmlformats.org/drawingml/2006/main">
            <a:r>
              <a:t>- Run fingerprint in verified public-build rehearsal: GRD-9C1ED390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2:40–3:30</a:t>
            </a:r>
          </a:p>
          <a:p xmlns:a="http://schemas.openxmlformats.org/drawingml/2006/main">
            <a:r>
              <a:t/>
            </a:r>
          </a:p>
          <a:p xmlns:a="http://schemas.openxmlformats.org/drawingml/2006/main">
            <a:r>
              <a:t>Grounded exhaustively searches 245 reserve, EV-delay and pre-cooling policies across five hazards on an independent 300-future cohort. The selected policy—20 percent reserve, 180-minute EV delay and 11 a.m. pre-cooling—takes the original 500-future baseline from 15 critical failures to zero. It then passes three disjoint holdouts, four assumption shocks, and prevents seven holdout failures without introducing one. Same seeds before and after mean the policy cannot win by getting an easier scenario.</a:t>
            </a:r>
          </a:p>
          <a:p xmlns:a="http://schemas.openxmlformats.org/drawingml/2006/main">
            <a:r>
              <a:t/>
            </a:r>
          </a:p>
          <a:p xmlns:a="http://schemas.openxmlformats.org/drawingml/2006/main">
            <a:r>
              <a:t>Sources:</a:t>
            </a:r>
          </a:p>
          <a:p xmlns:a="http://schemas.openxmlformats.org/drawingml/2006/main">
            <a:r>
              <a:t>- Grounded Engine 2.5 verified static-browser optimizer rehearsal</a:t>
            </a:r>
          </a:p>
          <a:p xmlns:a="http://schemas.openxmlformats.org/drawingml/2006/main">
            <a:r>
              <a:t>- Proof run fingerprint: GRD-697CA17E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3:30–4:05</a:t>
            </a:r>
          </a:p>
          <a:p xmlns:a="http://schemas.openxmlformats.org/drawingml/2006/main">
            <a:r>
              <a:t/>
            </a:r>
          </a:p>
          <a:p xmlns:a="http://schemas.openxmlformats.org/drawingml/2006/main">
            <a:r>
              <a:t>We are at the public-evidence and outreach-ready stage. We have a named Jaipur facility, a source-checked field assessment, a minimum data contract and a review packet for the hospital operations team and Aavas Foundation. We do not claim a partnership before someone replies. The next evidence step is a named reviewer and permission for 30 days of 15-minute demand, PV and outage data; then Grounded quality-gates and fingerprints a commissioned site twin.</a:t>
            </a:r>
          </a:p>
          <a:p xmlns:a="http://schemas.openxmlformats.org/drawingml/2006/main">
            <a:r>
              <a:t/>
            </a:r>
          </a:p>
          <a:p xmlns:a="http://schemas.openxmlformats.org/drawingml/2006/main">
            <a:r>
              <a:t>Sources:</a:t>
            </a:r>
          </a:p>
          <a:p xmlns:a="http://schemas.openxmlformats.org/drawingml/2006/main">
            <a:r>
              <a:t>- https://www.aavas.in/contact-us</a:t>
            </a:r>
          </a:p>
          <a:p xmlns:a="http://schemas.openxmlformats.org/drawingml/2006/main">
            <a:r>
              <a:t>- https://rajswasthya.rajasthan.gov.in/contact.php</a:t>
            </a:r>
          </a:p>
          <a:p xmlns:a="http://schemas.openxmlformats.org/drawingml/2006/main">
            <a:r>
              <a:t>- https://gbsjaipur.org/about/</a:t>
            </a:r>
          </a:p>
          <a:p xmlns:a="http://schemas.openxmlformats.org/drawingml/2006/main">
            <a:r>
              <a:t>- D:/Grounded/docs/JAIPUR_FIELD_PARTNERSHIP.md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4:05–4:25</a:t>
            </a:r>
          </a:p>
          <a:p xmlns:a="http://schemas.openxmlformats.org/drawingml/2006/main">
            <a:r>
              <a:t/>
            </a:r>
          </a:p>
          <a:p xmlns:a="http://schemas.openxmlformats.org/drawingml/2006/main">
            <a:r>
              <a:t>The public demo is live and reproducible. Our ask is small: a 20-minute technical review and three non-sensitive exports covering 30 days. Give Grounded one real boundary and one real outage history, and we will turn resilience from a promise into a test. Make Jaipur’s next outage boring.</a:t>
            </a:r>
          </a:p>
          <a:p xmlns:a="http://schemas.openxmlformats.org/drawingml/2006/main">
            <a:r>
              <a:t/>
            </a:r>
          </a:p>
          <a:p xmlns:a="http://schemas.openxmlformats.org/drawingml/2006/main">
            <a:r>
              <a:t>Sources:</a:t>
            </a:r>
          </a:p>
          <a:p xmlns:a="http://schemas.openxmlformats.org/drawingml/2006/main">
            <a:r>
              <a:t>- https://grounded-peach.vercel.app</a:t>
            </a:r>
          </a:p>
          <a:p xmlns:a="http://schemas.openxmlformats.org/drawingml/2006/main">
            <a:r>
              <a:t>- D:/Grounded/data/SITE_DATA_CONTRACT.md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aa1715785e44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4e453e95294f89" /><Relationship Type="http://schemas.openxmlformats.org/officeDocument/2006/relationships/slideLayout" Target="/ppt/slideLayouts/slideLayout1.xml" Id="R6219ccc4bba545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19ccc4bba545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c2b224feff641a3" /><Relationship Type="http://schemas.openxmlformats.org/officeDocument/2006/relationships/image" Target="/ppt/media/image.png" Id="R90dbe09e201844d8" /><Relationship Type="http://schemas.openxmlformats.org/officeDocument/2006/relationships/image" Target="/ppt/media/image2.png" Id="Rdbfea1941c9d4fd1" /><Relationship Type="http://schemas.openxmlformats.org/officeDocument/2006/relationships/notesSlide" Target="/ppt/notesSlides/notesSlide1.xml" Id="R7f757edda0bf40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9b76185fa84700" /><Relationship Type="http://schemas.openxmlformats.org/officeDocument/2006/relationships/chart" Target="/ppt/slides/charts/chart1.xml" Id="R6799eda9791642cc" /><Relationship Type="http://schemas.openxmlformats.org/officeDocument/2006/relationships/notesSlide" Target="/ppt/notesSlides/notesSlide2.xml" Id="R25eb26cc2db34d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5bd66850f054c42" /><Relationship Type="http://schemas.openxmlformats.org/officeDocument/2006/relationships/image" Target="/ppt/media/image3.png" Id="R086872e5de4b476a" /><Relationship Type="http://schemas.openxmlformats.org/officeDocument/2006/relationships/notesSlide" Target="/ppt/notesSlides/notesSlide3.xml" Id="Rd5108524011844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f68eae26844c0b" /><Relationship Type="http://schemas.openxmlformats.org/officeDocument/2006/relationships/notesSlide" Target="/ppt/notesSlides/notesSlide4.xml" Id="R57920c7d643f405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1d899ec8734ccb" /><Relationship Type="http://schemas.openxmlformats.org/officeDocument/2006/relationships/chart" Target="/ppt/slides/charts/chart2.xml" Id="Rfa227953bd584a45" /><Relationship Type="http://schemas.openxmlformats.org/officeDocument/2006/relationships/notesSlide" Target="/ppt/notesSlides/notesSlide5.xml" Id="Rc0c14a1d87d54e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5fb5f752914bc2" /><Relationship Type="http://schemas.openxmlformats.org/officeDocument/2006/relationships/notesSlide" Target="/ppt/notesSlides/notesSlide6.xml" Id="R9bbd2c3272974e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3161aa8d6845ea" /><Relationship Type="http://schemas.openxmlformats.org/officeDocument/2006/relationships/image" Target="/ppt/media/image4.png" Id="Rcb186f90bc06425b" /><Relationship Type="http://schemas.openxmlformats.org/officeDocument/2006/relationships/notesSlide" Target="/ppt/notesSlides/notesSlide7.xml" Id="Rc7a47a71c2bb4d6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Monthly electricity bill (₹)</c:v>
          </c:tx>
          <c:spPr>
            <a:solidFill xmlns:a="http://schemas.openxmlformats.org/drawingml/2006/main">
              <a:srgbClr val="2F6B4F"/>
            </a:solidFill>
          </c:spPr>
          <c:cat>
            <c:strRef>
              <c:f>'Chart Data'!$A$2:$A$3</c:f>
              <c:strCache>
                <c:ptCount val="2"/>
                <c:pt idx="0">
                  <c:v>Before</c:v>
                </c:pt>
                <c:pt idx="1">
                  <c:v>After</c:v>
                </c:pt>
              </c:strCache>
            </c:strRef>
          </c:cat>
          <c:val>
            <c:numRef>
              <c:f>'Chart Data'!$B$2:$B$3</c:f>
              <c:numCache>
                <c:formatCode>₹#,##0</c:formatCode>
                <c:ptCount val="2"/>
                <c:pt idx="0">
                  <c:v>90000</c:v>
                </c:pt>
                <c:pt idx="1">
                  <c:v>40000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20000"/>
      </c:valAx>
      <c:spPr>
        <a:solidFill xmlns:a="http://schemas.openxmlformats.org/drawingml/2006/main">
          <a:srgbClr val="FFFFFF"/>
        </a:solidFill>
        <a:ln xmlns:a="http://schemas.openxmlformats.org/drawingml/2006/main" w="9525">
          <a:solidFill>
            <a:srgbClr val="D8DED7"/>
          </a:solid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Critical failures</c:v>
          </c:tx>
          <c:spPr>
            <a:solidFill xmlns:a="http://schemas.openxmlformats.org/drawingml/2006/main">
              <a:srgbClr val="2F6B4F"/>
            </a:solidFill>
          </c:spPr>
          <c:cat>
            <c:strRef>
              <c:f>'Chart Data'!$A$2:$A$3</c:f>
              <c:strCache>
                <c:ptCount val="2"/>
                <c:pt idx="0">
                  <c:v>Current plan</c:v>
                </c:pt>
                <c:pt idx="1">
                  <c:v>Grounded policy</c:v>
                </c:pt>
              </c:strCache>
            </c:strRef>
          </c:cat>
          <c:val>
            <c:numRef>
              <c:f>'Chart Data'!$B$2:$B$3</c:f>
              <c:numCache>
                <c:formatCode>General</c:formatCode>
                <c:ptCount val="2"/>
                <c:pt idx="0">
                  <c:v>15</c:v>
                </c:pt>
                <c:pt idx="1">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4"/>
      </c:valAx>
      <c:spPr>
        <a:solidFill xmlns:a="http://schemas.openxmlformats.org/drawingml/2006/main">
          <a:srgbClr val="F7F5EF"/>
        </a:solidFill>
        <a:ln xmlns:a="http://schemas.openxmlformats.org/drawingml/2006/main" w="9525">
          <a:solidFill>
            <a:srgbClr val="D8DED7"/>
          </a:solidFill>
        </a:ln>
      </c:spPr>
    </c:plotArea>
    <c:plotVisOnly val="1"/>
  </c:chart>
  <c:spPr>
    <a:solidFill xmlns:a="http://schemas.openxmlformats.org/drawingml/2006/main">
      <a:srgbClr val="F7F5E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0dbe09e201844d8"/>
          <a:srcRect xmlns:a="http://schemas.openxmlformats.org/drawingml/2006/main" l="4861" t="0" r="4861"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260609D-38CD-4232-937A-8E9454C0433E}"/>
              </a:ext>
            </a:extLst>
          </p:cNvPr>
          <p:cNvSpPr>
            <a:spLocks xmlns:a="http://schemas.openxmlformats.org/drawingml/2006/main" noGrp="1"/>
          </p:cNvSpPr>
          <p:nvPr/>
        </p:nvSpPr>
        <p:spPr>
          <a:xfrm xmlns:a="http://schemas.openxmlformats.org/drawingml/2006/main">
            <a:off x="6667500" y="0"/>
            <a:ext cx="952500" cy="6858000"/>
          </a:xfrm>
          <a:prstGeom xmlns:a="http://schemas.openxmlformats.org/drawingml/2006/main" prst="rect">
            <a:avLst/>
          </a:prstGeom>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bfea1941c9d4fd1"/>
          <a:stretch xmlns:a="http://schemas.openxmlformats.org/drawingml/2006/main"/>
        </p:blipFill>
        <p:spPr>
          <a:xfrm xmlns:a="http://schemas.openxmlformats.org/drawingml/2006/main">
            <a:off x="942975" y="495300"/>
            <a:ext cx="533400" cy="533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C188C6F-CB2E-41E4-B354-984BD03FD756}"/>
              </a:ext>
            </a:extLst>
          </p:cNvPr>
          <p:cNvSpPr>
            <a:spLocks xmlns:a="http://schemas.openxmlformats.org/drawingml/2006/main" noGrp="1"/>
          </p:cNvSpPr>
          <p:nvPr/>
        </p:nvSpPr>
        <p:spPr>
          <a:xfrm xmlns:a="http://schemas.openxmlformats.org/drawingml/2006/main">
            <a:off x="609600" y="13716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2F6B4F"/>
                </a:solidFill>
                <a:latin typeface="Arial"/>
                <a:ea typeface="Arial"/>
                <a:cs typeface="Arial"/>
              </a:defRPr>
            </a:pPr>
            <a:r>
              <a:rPr sz="1125" b="1" i="0">
                <a:solidFill>
                  <a:srgbClr val="2F6B4F"/>
                </a:solidFill>
                <a:latin typeface="Arial"/>
                <a:ea typeface="Arial"/>
                <a:cs typeface="Arial"/>
              </a:rPr>
              <a:t>JAIPUR HOSPITAL ENERGY RESILIENCE</a:t>
            </a:r>
          </a:p>
        </p:txBody>
      </p:sp>
      <p:sp>
        <p:nvSpPr>
          <p:cNvPr id="5" name="">
            <a:extLst xmlns:a="http://schemas.openxmlformats.org/drawingml/2006/main">
              <a:ext uri="{FF2B5EF4-FFF2-40B4-BE49-F238E27FC236}">
                <a16:creationId xmlns:a16="http://schemas.microsoft.com/office/drawing/2014/main" id="{0456C330-8A42-4B29-A02D-0219A829E446}"/>
              </a:ext>
            </a:extLst>
          </p:cNvPr>
          <p:cNvSpPr>
            <a:spLocks xmlns:a="http://schemas.openxmlformats.org/drawingml/2006/main" noGrp="1"/>
          </p:cNvSpPr>
          <p:nvPr/>
        </p:nvSpPr>
        <p:spPr>
          <a:xfrm xmlns:a="http://schemas.openxmlformats.org/drawingml/2006/main">
            <a:off x="609600" y="1809750"/>
            <a:ext cx="5905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350" b="1" i="0">
                <a:solidFill>
                  <a:srgbClr val="17362C"/>
                </a:solidFill>
                <a:latin typeface="Arial"/>
                <a:ea typeface="Arial"/>
                <a:cs typeface="Arial"/>
              </a:defRPr>
            </a:pPr>
            <a:r>
              <a:rPr sz="4350" b="1" i="0">
                <a:solidFill>
                  <a:srgbClr val="17362C"/>
                </a:solidFill>
                <a:latin typeface="Arial"/>
                <a:ea typeface="Arial"/>
                <a:cs typeface="Arial"/>
              </a:rPr>
              <a:t>Test tomorrow</a:t>
            </a:r>
          </a:p>
          <a:p xmlns:a="http://schemas.openxmlformats.org/drawingml/2006/main">
            <a:pPr>
              <a:defRPr sz="4350" b="1" i="0">
                <a:solidFill>
                  <a:srgbClr val="17362C"/>
                </a:solidFill>
                <a:latin typeface="Arial"/>
                <a:ea typeface="Arial"/>
                <a:cs typeface="Arial"/>
              </a:defRPr>
            </a:pPr>
            <a:r>
              <a:rPr sz="4350" b="1" i="0">
                <a:solidFill>
                  <a:srgbClr val="17362C"/>
                </a:solidFill>
                <a:latin typeface="Arial"/>
                <a:ea typeface="Arial"/>
                <a:cs typeface="Arial"/>
              </a:rPr>
              <a:t>before it arrives.</a:t>
            </a:r>
          </a:p>
        </p:txBody>
      </p:sp>
      <p:sp>
        <p:nvSpPr>
          <p:cNvPr id="6" name="">
            <a:extLst xmlns:a="http://schemas.openxmlformats.org/drawingml/2006/main">
              <a:ext uri="{FF2B5EF4-FFF2-40B4-BE49-F238E27FC236}">
                <a16:creationId xmlns:a16="http://schemas.microsoft.com/office/drawing/2014/main" id="{7263F27A-B0A8-40F3-95EC-37EC975F2BDC}"/>
              </a:ext>
            </a:extLst>
          </p:cNvPr>
          <p:cNvSpPr>
            <a:spLocks xmlns:a="http://schemas.openxmlformats.org/drawingml/2006/main" noGrp="1"/>
          </p:cNvSpPr>
          <p:nvPr/>
        </p:nvSpPr>
        <p:spPr>
          <a:xfrm xmlns:a="http://schemas.openxmlformats.org/drawingml/2006/main">
            <a:off x="609600" y="38576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0" i="0">
                <a:solidFill>
                  <a:srgbClr val="5F6E66"/>
                </a:solidFill>
                <a:latin typeface="Arial"/>
                <a:ea typeface="Arial"/>
                <a:cs typeface="Arial"/>
              </a:defRPr>
            </a:pPr>
            <a:r>
              <a:rPr sz="1800" b="0" i="0">
                <a:solidFill>
                  <a:srgbClr val="5F6E66"/>
                </a:solidFill>
                <a:latin typeface="Arial"/>
                <a:ea typeface="Arial"/>
                <a:cs typeface="Arial"/>
              </a:rPr>
              <a:t>A reproducible digital twin that explains critical failures and proves the smallest intervention on unseen futures.</a:t>
            </a:r>
          </a:p>
        </p:txBody>
      </p:sp>
      <p:sp>
        <p:nvSpPr>
          <p:cNvPr id="7" name="">
            <a:extLst xmlns:a="http://schemas.openxmlformats.org/drawingml/2006/main">
              <a:ext uri="{FF2B5EF4-FFF2-40B4-BE49-F238E27FC236}">
                <a16:creationId xmlns:a16="http://schemas.microsoft.com/office/drawing/2014/main" id="{F1C31785-DD9A-4643-8C84-5EAFA4C1A3C2}"/>
              </a:ext>
            </a:extLst>
          </p:cNvPr>
          <p:cNvSpPr>
            <a:spLocks xmlns:a="http://schemas.openxmlformats.org/drawingml/2006/main" noGrp="1"/>
          </p:cNvSpPr>
          <p:nvPr/>
        </p:nvSpPr>
        <p:spPr>
          <a:xfrm xmlns:a="http://schemas.openxmlformats.org/drawingml/2006/main">
            <a:off x="609600" y="5181600"/>
            <a:ext cx="4905375" cy="47625"/>
          </a:xfrm>
          <a:prstGeom xmlns:a="http://schemas.openxmlformats.org/drawingml/2006/main" prst="rect">
            <a:avLst/>
          </a:prstGeom>
          <a:solidFill xmlns:a="http://schemas.openxmlformats.org/drawingml/2006/main">
            <a:srgbClr val="2F6B4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8701ED-B188-4D6C-8F16-5CA1FCC5A01D}"/>
              </a:ext>
            </a:extLst>
          </p:cNvPr>
          <p:cNvSpPr>
            <a:spLocks xmlns:a="http://schemas.openxmlformats.org/drawingml/2006/main" noGrp="1"/>
          </p:cNvSpPr>
          <p:nvPr/>
        </p:nvSpPr>
        <p:spPr>
          <a:xfrm xmlns:a="http://schemas.openxmlformats.org/drawingml/2006/main">
            <a:off x="609600" y="541020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500 futures, 288 intervals each, same-seed proof</a:t>
            </a:r>
          </a:p>
        </p:txBody>
      </p:sp>
      <p:sp>
        <p:nvSpPr>
          <p:cNvPr id="9" name="">
            <a:extLst xmlns:a="http://schemas.openxmlformats.org/drawingml/2006/main">
              <a:ext uri="{FF2B5EF4-FFF2-40B4-BE49-F238E27FC236}">
                <a16:creationId xmlns:a16="http://schemas.microsoft.com/office/drawing/2014/main" id="{271CC53C-7ADF-4031-A08D-29CBB8167E6E}"/>
              </a:ext>
            </a:extLst>
          </p:cNvPr>
          <p:cNvSpPr>
            <a:spLocks xmlns:a="http://schemas.openxmlformats.org/drawingml/2006/main" noGrp="1"/>
          </p:cNvSpPr>
          <p:nvPr/>
        </p:nvSpPr>
        <p:spPr>
          <a:xfrm xmlns:a="http://schemas.openxmlformats.org/drawingml/2006/main">
            <a:off x="609600" y="61912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GROUNDED  /  SUB-FIVE-MINUTE JUDGE PITCH</a:t>
            </a:r>
          </a:p>
        </p:txBody>
      </p:sp>
    </p:spTree>
    <p:extLst>
      <p:ext uri="{BB962C8B-B14F-4D97-AF65-F5344CB8AC3E}">
        <p14:creationId xmlns:p14="http://schemas.microsoft.com/office/powerpoint/2010/main" val="83490240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83D58EA-EFAF-4AE0-95EF-92624BC834AF}"/>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A REAL JAIPUR ANCHOR</a:t>
            </a:r>
          </a:p>
        </p:txBody>
      </p:sp>
      <p:sp>
        <p:nvSpPr>
          <p:cNvPr id="2" name="">
            <a:extLst xmlns:a="http://schemas.openxmlformats.org/drawingml/2006/main">
              <a:ext uri="{FF2B5EF4-FFF2-40B4-BE49-F238E27FC236}">
                <a16:creationId xmlns:a16="http://schemas.microsoft.com/office/drawing/2014/main" id="{AEAD959D-7DFF-45E0-B375-8EE53C5D7F19}"/>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06"/>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The intervention exists. Outage proof still needs telemetry.</a:t>
            </a:r>
          </a:p>
        </p:txBody>
      </p:sp>
      <p:sp>
        <p:nvSpPr>
          <p:cNvPr id="3" name="">
            <a:extLst xmlns:a="http://schemas.openxmlformats.org/drawingml/2006/main">
              <a:ext uri="{FF2B5EF4-FFF2-40B4-BE49-F238E27FC236}">
                <a16:creationId xmlns:a16="http://schemas.microsoft.com/office/drawing/2014/main" id="{53294719-232B-434E-8A69-52E38BD6C40A}"/>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307BD6-A286-4689-B4B5-3B9CD9A19261}"/>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E8A8411-597F-4942-9C60-3DE992758A3A}"/>
              </a:ext>
            </a:extLst>
          </p:cNvPr>
          <p:cNvSpPr>
            <a:spLocks xmlns:a="http://schemas.openxmlformats.org/drawingml/2006/main" noGrp="1"/>
          </p:cNvSpPr>
          <p:nvPr/>
        </p:nvSpPr>
        <p:spPr>
          <a:xfrm xmlns:a="http://schemas.openxmlformats.org/drawingml/2006/main">
            <a:off x="609600" y="203835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70 kWp</a:t>
            </a:r>
          </a:p>
        </p:txBody>
      </p:sp>
      <p:sp>
        <p:nvSpPr>
          <p:cNvPr id="6" name="">
            <a:extLst xmlns:a="http://schemas.openxmlformats.org/drawingml/2006/main">
              <a:ext uri="{FF2B5EF4-FFF2-40B4-BE49-F238E27FC236}">
                <a16:creationId xmlns:a16="http://schemas.microsoft.com/office/drawing/2014/main" id="{3EE11AB3-1929-4C60-A459-0B8D616AC66B}"/>
              </a:ext>
            </a:extLst>
          </p:cNvPr>
          <p:cNvSpPr>
            <a:spLocks xmlns:a="http://schemas.openxmlformats.org/drawingml/2006/main" noGrp="1"/>
          </p:cNvSpPr>
          <p:nvPr/>
        </p:nvSpPr>
        <p:spPr>
          <a:xfrm xmlns:a="http://schemas.openxmlformats.org/drawingml/2006/main">
            <a:off x="609600" y="25622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ON-GRID SOLAR</a:t>
            </a:r>
          </a:p>
        </p:txBody>
      </p:sp>
      <p:sp>
        <p:nvSpPr>
          <p:cNvPr id="7" name="">
            <a:extLst xmlns:a="http://schemas.openxmlformats.org/drawingml/2006/main">
              <a:ext uri="{FF2B5EF4-FFF2-40B4-BE49-F238E27FC236}">
                <a16:creationId xmlns:a16="http://schemas.microsoft.com/office/drawing/2014/main" id="{B75A8B76-86ED-4A34-A325-CFCFAFF8FC9B}"/>
              </a:ext>
            </a:extLst>
          </p:cNvPr>
          <p:cNvSpPr>
            <a:spLocks xmlns:a="http://schemas.openxmlformats.org/drawingml/2006/main" noGrp="1"/>
          </p:cNvSpPr>
          <p:nvPr/>
        </p:nvSpPr>
        <p:spPr>
          <a:xfrm xmlns:a="http://schemas.openxmlformats.org/drawingml/2006/main">
            <a:off x="2781300" y="203835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≈80%</a:t>
            </a:r>
          </a:p>
        </p:txBody>
      </p:sp>
      <p:sp>
        <p:nvSpPr>
          <p:cNvPr id="8" name="">
            <a:extLst xmlns:a="http://schemas.openxmlformats.org/drawingml/2006/main">
              <a:ext uri="{FF2B5EF4-FFF2-40B4-BE49-F238E27FC236}">
                <a16:creationId xmlns:a16="http://schemas.microsoft.com/office/drawing/2014/main" id="{A9BCA3F8-A218-4197-8FEB-EFCCB2BE89ED}"/>
              </a:ext>
            </a:extLst>
          </p:cNvPr>
          <p:cNvSpPr>
            <a:spLocks xmlns:a="http://schemas.openxmlformats.org/drawingml/2006/main" noGrp="1"/>
          </p:cNvSpPr>
          <p:nvPr/>
        </p:nvSpPr>
        <p:spPr>
          <a:xfrm xmlns:a="http://schemas.openxmlformats.org/drawingml/2006/main">
            <a:off x="2781300" y="256222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REPORTED DEMAND SHARE</a:t>
            </a:r>
          </a:p>
        </p:txBody>
      </p:sp>
      <p:sp>
        <p:nvSpPr>
          <p:cNvPr id="9" name="">
            <a:extLst xmlns:a="http://schemas.openxmlformats.org/drawingml/2006/main">
              <a:ext uri="{FF2B5EF4-FFF2-40B4-BE49-F238E27FC236}">
                <a16:creationId xmlns:a16="http://schemas.microsoft.com/office/drawing/2014/main" id="{1BDAB946-E689-4DFC-9A50-4A39820A4E84}"/>
              </a:ext>
            </a:extLst>
          </p:cNvPr>
          <p:cNvSpPr>
            <a:spLocks xmlns:a="http://schemas.openxmlformats.org/drawingml/2006/main" noGrp="1"/>
          </p:cNvSpPr>
          <p:nvPr/>
        </p:nvSpPr>
        <p:spPr>
          <a:xfrm xmlns:a="http://schemas.openxmlformats.org/drawingml/2006/main">
            <a:off x="609600" y="31242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000"/>
          </a:bodyPr>
          <a:lstStyle xmlns:a="http://schemas.openxmlformats.org/drawingml/2006/main"/>
          <a:p xmlns:a="http://schemas.openxmlformats.org/drawingml/2006/main">
            <a:pPr>
              <a:defRPr sz="1875" b="1" i="0">
                <a:solidFill>
                  <a:srgbClr val="17362C"/>
                </a:solidFill>
                <a:latin typeface="Arial"/>
                <a:ea typeface="Arial"/>
                <a:cs typeface="Arial"/>
              </a:defRPr>
            </a:pPr>
            <a:r>
              <a:rPr sz="1875" b="1" i="0">
                <a:solidFill>
                  <a:srgbClr val="17362C"/>
                </a:solidFill>
                <a:latin typeface="Arial"/>
                <a:ea typeface="Arial"/>
                <a:cs typeface="Arial"/>
              </a:rPr>
              <a:t>Rajkiya Dharamshala, Sawai Man Singh Hospital</a:t>
            </a:r>
          </a:p>
        </p:txBody>
      </p:sp>
      <p:sp>
        <p:nvSpPr>
          <p:cNvPr id="10" name="">
            <a:extLst xmlns:a="http://schemas.openxmlformats.org/drawingml/2006/main">
              <a:ext uri="{FF2B5EF4-FFF2-40B4-BE49-F238E27FC236}">
                <a16:creationId xmlns:a16="http://schemas.microsoft.com/office/drawing/2014/main" id="{9D49FAFA-5418-4B8B-ADBB-8CFE195AD421}"/>
              </a:ext>
            </a:extLst>
          </p:cNvPr>
          <p:cNvSpPr>
            <a:spLocks xmlns:a="http://schemas.openxmlformats.org/drawingml/2006/main" noGrp="1"/>
          </p:cNvSpPr>
          <p:nvPr/>
        </p:nvSpPr>
        <p:spPr>
          <a:xfrm xmlns:a="http://schemas.openxmlformats.org/drawingml/2006/main">
            <a:off x="609600" y="3695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i="0">
                <a:solidFill>
                  <a:srgbClr val="5F6E66"/>
                </a:solidFill>
                <a:latin typeface="Arial"/>
                <a:ea typeface="Arial"/>
                <a:cs typeface="Arial"/>
              </a:defRPr>
            </a:pPr>
            <a:r>
              <a:rPr sz="1275" b="0" i="0">
                <a:solidFill>
                  <a:srgbClr val="5F6E66"/>
                </a:solidFill>
                <a:latin typeface="Arial"/>
                <a:ea typeface="Arial"/>
                <a:cs typeface="Arial"/>
              </a:rPr>
              <a:t>2025-26 field-assessed case, Jaipur, Rajasthan</a:t>
            </a:r>
          </a:p>
        </p:txBody>
      </p:sp>
      <p:sp>
        <p:nvSpPr>
          <p:cNvPr id="11" name="">
            <a:extLst xmlns:a="http://schemas.openxmlformats.org/drawingml/2006/main">
              <a:ext uri="{FF2B5EF4-FFF2-40B4-BE49-F238E27FC236}">
                <a16:creationId xmlns:a16="http://schemas.microsoft.com/office/drawing/2014/main" id="{42592097-09C7-47CB-BCC1-99AD9627F204}"/>
              </a:ext>
            </a:extLst>
          </p:cNvPr>
          <p:cNvSpPr>
            <a:spLocks xmlns:a="http://schemas.openxmlformats.org/drawingml/2006/main" noGrp="1"/>
          </p:cNvSpPr>
          <p:nvPr/>
        </p:nvSpPr>
        <p:spPr>
          <a:xfrm xmlns:a="http://schemas.openxmlformats.org/drawingml/2006/main">
            <a:off x="609600" y="4248150"/>
            <a:ext cx="4762500" cy="1543050"/>
          </a:xfrm>
          <a:prstGeom xmlns:a="http://schemas.openxmlformats.org/drawingml/2006/main" prst="roundRect">
            <a:avLst>
              <a:gd name="adj" fmla="val 11111"/>
            </a:avLst>
          </a:prstGeom>
          <a:solidFill xmlns:a="http://schemas.openxmlformats.org/drawingml/2006/main">
            <a:srgbClr val="F7F5E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1F54CA3-0094-4D11-80FC-8D4660C516E8}"/>
              </a:ext>
            </a:extLst>
          </p:cNvPr>
          <p:cNvSpPr>
            <a:spLocks xmlns:a="http://schemas.openxmlformats.org/drawingml/2006/main" noGrp="1"/>
          </p:cNvSpPr>
          <p:nvPr/>
        </p:nvSpPr>
        <p:spPr>
          <a:xfrm xmlns:a="http://schemas.openxmlformats.org/drawingml/2006/main">
            <a:off x="857250" y="44577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defRPr sz="975" b="1" i="0">
                <a:solidFill>
                  <a:srgbClr val="2F6B4F"/>
                </a:solidFill>
                <a:latin typeface="Arial"/>
                <a:ea typeface="Arial"/>
                <a:cs typeface="Arial"/>
              </a:defRPr>
            </a:pPr>
            <a:r>
              <a:rPr sz="975" b="1" i="0">
                <a:solidFill>
                  <a:srgbClr val="2F6B4F"/>
                </a:solidFill>
                <a:latin typeface="Arial"/>
                <a:ea typeface="Arial"/>
                <a:cs typeface="Arial"/>
              </a:rPr>
              <a:t>WHAT THE SOURCE PROVES</a:t>
            </a:r>
          </a:p>
        </p:txBody>
      </p:sp>
      <p:sp>
        <p:nvSpPr>
          <p:cNvPr id="13" name="">
            <a:extLst xmlns:a="http://schemas.openxmlformats.org/drawingml/2006/main">
              <a:ext uri="{FF2B5EF4-FFF2-40B4-BE49-F238E27FC236}">
                <a16:creationId xmlns:a16="http://schemas.microsoft.com/office/drawing/2014/main" id="{A53970BC-73B8-42B5-BAC1-570B3C9C44EF}"/>
              </a:ext>
            </a:extLst>
          </p:cNvPr>
          <p:cNvSpPr>
            <a:spLocks xmlns:a="http://schemas.openxmlformats.org/drawingml/2006/main" noGrp="1"/>
          </p:cNvSpPr>
          <p:nvPr/>
        </p:nvSpPr>
        <p:spPr>
          <a:xfrm xmlns:a="http://schemas.openxmlformats.org/drawingml/2006/main">
            <a:off x="857250" y="4791075"/>
            <a:ext cx="400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1" i="0">
                <a:solidFill>
                  <a:srgbClr val="17362C"/>
                </a:solidFill>
                <a:latin typeface="Arial"/>
                <a:ea typeface="Arial"/>
                <a:cs typeface="Arial"/>
              </a:defRPr>
            </a:pPr>
            <a:r>
              <a:rPr sz="1425" b="1" i="0">
                <a:solidFill>
                  <a:srgbClr val="17362C"/>
                </a:solidFill>
                <a:latin typeface="Arial"/>
                <a:ea typeface="Arial"/>
                <a:cs typeface="Arial"/>
              </a:rPr>
              <a:t>Real facility, documented solar intervention</a:t>
            </a:r>
          </a:p>
          <a:p xmlns:a="http://schemas.openxmlformats.org/drawingml/2006/main">
            <a:pPr>
              <a:defRPr sz="1425" b="1" i="0">
                <a:solidFill>
                  <a:srgbClr val="17362C"/>
                </a:solidFill>
                <a:latin typeface="Arial"/>
                <a:ea typeface="Arial"/>
                <a:cs typeface="Arial"/>
              </a:defRPr>
            </a:pPr>
            <a:r>
              <a:rPr sz="1425" b="1" i="0">
                <a:solidFill>
                  <a:srgbClr val="17362C"/>
                </a:solidFill>
                <a:latin typeface="Arial"/>
                <a:ea typeface="Arial"/>
                <a:cs typeface="Arial"/>
              </a:rPr>
              <a:t>Operational interviews, material reported bill reduction</a:t>
            </a:r>
          </a:p>
        </p:txBody>
      </p:sp>
      <p:graphicFrame>
        <p:nvGraphicFramePr>
          <p:cNvPr id="32" name="Chart"/>
          <p:cNvGraphicFramePr/>
          <p:nvPr/>
        </p:nvGraphicFramePr>
        <p:xfrm>
          <a:off xmlns:a="http://schemas.openxmlformats.org/drawingml/2006/main" x="6191250" y="2095500"/>
          <a:ext xmlns:a="http://schemas.openxmlformats.org/drawingml/2006/main" cx="4857750" cy="2762250"/>
        </p:xfrm>
        <a:graphic xmlns:a="http://schemas.openxmlformats.org/drawingml/2006/main">
          <a:graphicData uri="http://schemas.openxmlformats.org/drawingml/2006/chart">
            <c:chart xmlns:r="http://schemas.openxmlformats.org/officeDocument/2006/relationships" xmlns:c="http://schemas.openxmlformats.org/drawingml/2006/chart" r:id="R6799eda9791642cc"/>
          </a:graphicData>
        </a:graphic>
      </p:graphicFrame>
      <p:sp>
        <p:nvSpPr>
          <p:cNvPr id="15" name="">
            <a:extLst xmlns:a="http://schemas.openxmlformats.org/drawingml/2006/main">
              <a:ext uri="{FF2B5EF4-FFF2-40B4-BE49-F238E27FC236}">
                <a16:creationId xmlns:a16="http://schemas.microsoft.com/office/drawing/2014/main" id="{FB83339E-F72F-4C58-981C-07CE3CFC2A6A}"/>
              </a:ext>
            </a:extLst>
          </p:cNvPr>
          <p:cNvSpPr>
            <a:spLocks xmlns:a="http://schemas.openxmlformats.org/drawingml/2006/main" noGrp="1"/>
          </p:cNvSpPr>
          <p:nvPr/>
        </p:nvSpPr>
        <p:spPr>
          <a:xfrm xmlns:a="http://schemas.openxmlformats.org/drawingml/2006/main">
            <a:off x="7429500" y="49149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p xmlns:a="http://schemas.openxmlformats.org/drawingml/2006/main">
            <a:pPr>
              <a:defRPr sz="1050" b="1" i="0">
                <a:solidFill>
                  <a:srgbClr val="5F6E66"/>
                </a:solidFill>
                <a:latin typeface="Arial"/>
                <a:ea typeface="Arial"/>
                <a:cs typeface="Arial"/>
              </a:defRPr>
            </a:pPr>
            <a:r>
              <a:rPr sz="1050" b="1" i="0">
                <a:solidFill>
                  <a:srgbClr val="5F6E66"/>
                </a:solidFill>
                <a:latin typeface="Arial"/>
                <a:ea typeface="Arial"/>
                <a:cs typeface="Arial"/>
              </a:rPr>
              <a:t>reported monthly bill</a:t>
            </a:r>
          </a:p>
        </p:txBody>
      </p:sp>
      <p:sp>
        <p:nvSpPr>
          <p:cNvPr id="16" name="">
            <a:extLst xmlns:a="http://schemas.openxmlformats.org/drawingml/2006/main">
              <a:ext uri="{FF2B5EF4-FFF2-40B4-BE49-F238E27FC236}">
                <a16:creationId xmlns:a16="http://schemas.microsoft.com/office/drawing/2014/main" id="{AC5CD9CC-6858-48A8-9B28-92079302C86A}"/>
              </a:ext>
            </a:extLst>
          </p:cNvPr>
          <p:cNvSpPr>
            <a:spLocks xmlns:a="http://schemas.openxmlformats.org/drawingml/2006/main" noGrp="1"/>
          </p:cNvSpPr>
          <p:nvPr/>
        </p:nvSpPr>
        <p:spPr>
          <a:xfrm xmlns:a="http://schemas.openxmlformats.org/drawingml/2006/main">
            <a:off x="6191250" y="5391150"/>
            <a:ext cx="4857750" cy="571500"/>
          </a:xfrm>
          <a:prstGeom xmlns:a="http://schemas.openxmlformats.org/drawingml/2006/main" prst="roundRect">
            <a:avLst>
              <a:gd name="adj" fmla="val 23333"/>
            </a:avLst>
          </a:prstGeom>
          <a:solidFill xmlns:a="http://schemas.openxmlformats.org/drawingml/2006/main">
            <a:srgbClr val="E8DDC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04EA106-10B1-4FEB-B49D-A282B42C6662}"/>
              </a:ext>
            </a:extLst>
          </p:cNvPr>
          <p:cNvSpPr>
            <a:spLocks xmlns:a="http://schemas.openxmlformats.org/drawingml/2006/main" noGrp="1"/>
          </p:cNvSpPr>
          <p:nvPr/>
        </p:nvSpPr>
        <p:spPr>
          <a:xfrm xmlns:a="http://schemas.openxmlformats.org/drawingml/2006/main">
            <a:off x="6400800" y="5524500"/>
            <a:ext cx="443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890"/>
          </a:bodyPr>
          <a:lstStyle xmlns:a="http://schemas.openxmlformats.org/drawingml/2006/main"/>
          <a:p xmlns:a="http://schemas.openxmlformats.org/drawingml/2006/main">
            <a:pPr>
              <a:defRPr sz="1125" b="1" i="0">
                <a:solidFill>
                  <a:srgbClr val="835C3B"/>
                </a:solidFill>
                <a:latin typeface="Arial"/>
                <a:ea typeface="Arial"/>
                <a:cs typeface="Arial"/>
              </a:defRPr>
            </a:pPr>
            <a:r>
              <a:rPr sz="1125" b="1" i="0">
                <a:solidFill>
                  <a:srgbClr val="835C3B"/>
                </a:solidFill>
                <a:latin typeface="Arial"/>
                <a:ea typeface="Arial"/>
                <a:cs typeface="Arial"/>
              </a:rPr>
              <a:t>BOUNDARY  No 15-minute meter, inverter or outage telemetry is published.</a:t>
            </a:r>
          </a:p>
        </p:txBody>
      </p:sp>
      <p:sp>
        <p:nvSpPr>
          <p:cNvPr id="18" name="">
            <a:extLst xmlns:a="http://schemas.openxmlformats.org/drawingml/2006/main">
              <a:ext uri="{FF2B5EF4-FFF2-40B4-BE49-F238E27FC236}">
                <a16:creationId xmlns:a16="http://schemas.microsoft.com/office/drawing/2014/main" id="{753327C3-ECBE-4DF6-8664-A46C9D8D93F0}"/>
              </a:ext>
            </a:extLst>
          </p:cNvPr>
          <p:cNvSpPr>
            <a:spLocks xmlns:a="http://schemas.openxmlformats.org/drawingml/2006/main" noGrp="1"/>
          </p:cNvSpPr>
          <p:nvPr/>
        </p:nvSpPr>
        <p:spPr>
          <a:xfrm xmlns:a="http://schemas.openxmlformats.org/drawingml/2006/main">
            <a:off x="609600" y="6334125"/>
            <a:ext cx="876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0" i="0">
                <a:solidFill>
                  <a:srgbClr val="5F6E66"/>
                </a:solidFill>
                <a:latin typeface="Arial"/>
                <a:ea typeface="Arial"/>
                <a:cs typeface="Arial"/>
              </a:defRPr>
            </a:pPr>
            <a:r>
              <a:rPr sz="900" b="0" i="0">
                <a:solidFill>
                  <a:srgbClr val="5F6E66"/>
                </a:solidFill>
                <a:latin typeface="Arial"/>
                <a:ea typeface="Arial"/>
                <a:cs typeface="Arial"/>
              </a:rPr>
              <a:t>Source: Aavas Foundation / SGS impact assessment, pp. 9, 17, 22</a:t>
            </a:r>
          </a:p>
        </p:txBody>
      </p:sp>
    </p:spTree>
    <p:extLst>
      <p:ext uri="{BB962C8B-B14F-4D97-AF65-F5344CB8AC3E}">
        <p14:creationId xmlns:p14="http://schemas.microsoft.com/office/powerpoint/2010/main" val="59877639"/>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52AA5AB-DCB6-40A9-8124-516AAB1AB72B}"/>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FROM SOURCE TO DECISION</a:t>
            </a:r>
          </a:p>
        </p:txBody>
      </p:sp>
      <p:sp>
        <p:nvSpPr>
          <p:cNvPr id="2" name="">
            <a:extLst xmlns:a="http://schemas.openxmlformats.org/drawingml/2006/main">
              <a:ext uri="{FF2B5EF4-FFF2-40B4-BE49-F238E27FC236}">
                <a16:creationId xmlns:a16="http://schemas.microsoft.com/office/drawing/2014/main" id="{21480C31-DC9F-4310-8B7F-CCFEF185A87B}"/>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One facility becomes 500 exact operating futures.</a:t>
            </a:r>
          </a:p>
        </p:txBody>
      </p:sp>
      <p:sp>
        <p:nvSpPr>
          <p:cNvPr id="3" name="">
            <a:extLst xmlns:a="http://schemas.openxmlformats.org/drawingml/2006/main">
              <a:ext uri="{FF2B5EF4-FFF2-40B4-BE49-F238E27FC236}">
                <a16:creationId xmlns:a16="http://schemas.microsoft.com/office/drawing/2014/main" id="{DDA696B3-B819-434A-B7F1-94488F7A9D3F}"/>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6F3587-98D0-421B-BD55-DF3E1F43718A}"/>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03</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86872e5de4b476a"/>
          <a:srcRect xmlns:a="http://schemas.openxmlformats.org/drawingml/2006/main" l="0" t="11186" r="0" b="11186"/>
          <a:stretch xmlns:a="http://schemas.openxmlformats.org/drawingml/2006/main">
            <a:fillRect l="0" t="0" r="0" b="0"/>
          </a:stretch>
        </p:blipFill>
        <p:spPr>
          <a:xfrm xmlns:a="http://schemas.openxmlformats.org/drawingml/2006/main">
            <a:off x="8048625" y="1857375"/>
            <a:ext cx="3533775" cy="3429000"/>
          </a:xfrm>
          <a:prstGeom xmlns:a="http://schemas.openxmlformats.org/drawingml/2006/main" prst="roundRect">
            <a:avLst>
              <a:gd name="adj" fmla="val 6111"/>
            </a:avLst>
          </a:prstGeom>
        </p:spPr>
      </p:pic>
      <p:sp>
        <p:nvSpPr>
          <p:cNvPr id="6" name="">
            <a:extLst xmlns:a="http://schemas.openxmlformats.org/drawingml/2006/main">
              <a:ext uri="{FF2B5EF4-FFF2-40B4-BE49-F238E27FC236}">
                <a16:creationId xmlns:a16="http://schemas.microsoft.com/office/drawing/2014/main" id="{86116C4D-3E6C-4182-A046-314CA3FF906D}"/>
              </a:ext>
            </a:extLst>
          </p:cNvPr>
          <p:cNvSpPr>
            <a:spLocks xmlns:a="http://schemas.openxmlformats.org/drawingml/2006/main" noGrp="1"/>
          </p:cNvSpPr>
          <p:nvPr/>
        </p:nvSpPr>
        <p:spPr>
          <a:xfrm xmlns:a="http://schemas.openxmlformats.org/drawingml/2006/main">
            <a:off x="609600" y="20002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B6C65C6-8DC5-4349-8ACB-7E350431B793}"/>
              </a:ext>
            </a:extLst>
          </p:cNvPr>
          <p:cNvSpPr>
            <a:spLocks xmlns:a="http://schemas.openxmlformats.org/drawingml/2006/main" noGrp="1"/>
          </p:cNvSpPr>
          <p:nvPr/>
        </p:nvSpPr>
        <p:spPr>
          <a:xfrm xmlns:a="http://schemas.openxmlformats.org/drawingml/2006/main">
            <a:off x="1162050" y="2133600"/>
            <a:ext cx="723900" cy="28575"/>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CAE4AE7-5032-4146-A07A-1E8080843175}"/>
              </a:ext>
            </a:extLst>
          </p:cNvPr>
          <p:cNvSpPr>
            <a:spLocks xmlns:a="http://schemas.openxmlformats.org/drawingml/2006/main" noGrp="1"/>
          </p:cNvSpPr>
          <p:nvPr/>
        </p:nvSpPr>
        <p:spPr>
          <a:xfrm xmlns:a="http://schemas.openxmlformats.org/drawingml/2006/main">
            <a:off x="2095500" y="19812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OBSERVE</a:t>
            </a:r>
          </a:p>
        </p:txBody>
      </p:sp>
      <p:sp>
        <p:nvSpPr>
          <p:cNvPr id="9" name="">
            <a:extLst xmlns:a="http://schemas.openxmlformats.org/drawingml/2006/main">
              <a:ext uri="{FF2B5EF4-FFF2-40B4-BE49-F238E27FC236}">
                <a16:creationId xmlns:a16="http://schemas.microsoft.com/office/drawing/2014/main" id="{33E4F5F8-B08F-4C5B-A3D2-AE329B3C0705}"/>
              </a:ext>
            </a:extLst>
          </p:cNvPr>
          <p:cNvSpPr>
            <a:spLocks xmlns:a="http://schemas.openxmlformats.org/drawingml/2006/main" noGrp="1"/>
          </p:cNvSpPr>
          <p:nvPr/>
        </p:nvSpPr>
        <p:spPr>
          <a:xfrm xmlns:a="http://schemas.openxmlformats.org/drawingml/2006/main">
            <a:off x="3429000" y="19431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Jaipur climate</a:t>
            </a:r>
          </a:p>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Measured operational reference</a:t>
            </a:r>
          </a:p>
        </p:txBody>
      </p:sp>
      <p:sp>
        <p:nvSpPr>
          <p:cNvPr id="10" name="">
            <a:extLst xmlns:a="http://schemas.openxmlformats.org/drawingml/2006/main">
              <a:ext uri="{FF2B5EF4-FFF2-40B4-BE49-F238E27FC236}">
                <a16:creationId xmlns:a16="http://schemas.microsoft.com/office/drawing/2014/main" id="{2E04257D-F22D-4534-81AB-C2C8658D1200}"/>
              </a:ext>
            </a:extLst>
          </p:cNvPr>
          <p:cNvSpPr>
            <a:spLocks xmlns:a="http://schemas.openxmlformats.org/drawingml/2006/main" noGrp="1"/>
          </p:cNvSpPr>
          <p:nvPr/>
        </p:nvSpPr>
        <p:spPr>
          <a:xfrm xmlns:a="http://schemas.openxmlformats.org/drawingml/2006/main">
            <a:off x="609600" y="30289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618D856D-4367-445D-86EF-936B04729318}"/>
              </a:ext>
            </a:extLst>
          </p:cNvPr>
          <p:cNvSpPr>
            <a:spLocks xmlns:a="http://schemas.openxmlformats.org/drawingml/2006/main" noGrp="1"/>
          </p:cNvSpPr>
          <p:nvPr/>
        </p:nvSpPr>
        <p:spPr>
          <a:xfrm xmlns:a="http://schemas.openxmlformats.org/drawingml/2006/main">
            <a:off x="1162050" y="3162300"/>
            <a:ext cx="723900" cy="28575"/>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22C1AB0-48F0-4021-BF66-39DF6DAC62DA}"/>
              </a:ext>
            </a:extLst>
          </p:cNvPr>
          <p:cNvSpPr>
            <a:spLocks xmlns:a="http://schemas.openxmlformats.org/drawingml/2006/main" noGrp="1"/>
          </p:cNvSpPr>
          <p:nvPr/>
        </p:nvSpPr>
        <p:spPr>
          <a:xfrm xmlns:a="http://schemas.openxmlformats.org/drawingml/2006/main">
            <a:off x="2095500" y="30099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DISPATCH</a:t>
            </a:r>
          </a:p>
        </p:txBody>
      </p:sp>
      <p:sp>
        <p:nvSpPr>
          <p:cNvPr id="13" name="">
            <a:extLst xmlns:a="http://schemas.openxmlformats.org/drawingml/2006/main">
              <a:ext uri="{FF2B5EF4-FFF2-40B4-BE49-F238E27FC236}">
                <a16:creationId xmlns:a16="http://schemas.microsoft.com/office/drawing/2014/main" id="{D82ACA8F-CFBB-4D09-93B4-53E5FF74BB74}"/>
              </a:ext>
            </a:extLst>
          </p:cNvPr>
          <p:cNvSpPr>
            <a:spLocks xmlns:a="http://schemas.openxmlformats.org/drawingml/2006/main" noGrp="1"/>
          </p:cNvSpPr>
          <p:nvPr/>
        </p:nvSpPr>
        <p:spPr>
          <a:xfrm xmlns:a="http://schemas.openxmlformats.org/drawingml/2006/main">
            <a:off x="3429000" y="29718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Solar supports critical load</a:t>
            </a:r>
          </a:p>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Grid and battery cover flexible load</a:t>
            </a:r>
          </a:p>
        </p:txBody>
      </p:sp>
      <p:sp>
        <p:nvSpPr>
          <p:cNvPr id="14" name="">
            <a:extLst xmlns:a="http://schemas.openxmlformats.org/drawingml/2006/main">
              <a:ext uri="{FF2B5EF4-FFF2-40B4-BE49-F238E27FC236}">
                <a16:creationId xmlns:a16="http://schemas.microsoft.com/office/drawing/2014/main" id="{E0FBC512-003A-4A05-8875-1F9629E431A8}"/>
              </a:ext>
            </a:extLst>
          </p:cNvPr>
          <p:cNvSpPr>
            <a:spLocks xmlns:a="http://schemas.openxmlformats.org/drawingml/2006/main" noGrp="1"/>
          </p:cNvSpPr>
          <p:nvPr/>
        </p:nvSpPr>
        <p:spPr>
          <a:xfrm xmlns:a="http://schemas.openxmlformats.org/drawingml/2006/main">
            <a:off x="609600" y="40576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E7F2BF95-7C20-40FC-8899-BEDEE61FE1AA}"/>
              </a:ext>
            </a:extLst>
          </p:cNvPr>
          <p:cNvSpPr>
            <a:spLocks xmlns:a="http://schemas.openxmlformats.org/drawingml/2006/main" noGrp="1"/>
          </p:cNvSpPr>
          <p:nvPr/>
        </p:nvSpPr>
        <p:spPr>
          <a:xfrm xmlns:a="http://schemas.openxmlformats.org/drawingml/2006/main">
            <a:off x="1162050" y="4191000"/>
            <a:ext cx="723900" cy="28575"/>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EFDA3EE-AEC7-48DF-973A-2143BFF4A5C5}"/>
              </a:ext>
            </a:extLst>
          </p:cNvPr>
          <p:cNvSpPr>
            <a:spLocks xmlns:a="http://schemas.openxmlformats.org/drawingml/2006/main" noGrp="1"/>
          </p:cNvSpPr>
          <p:nvPr/>
        </p:nvSpPr>
        <p:spPr>
          <a:xfrm xmlns:a="http://schemas.openxmlformats.org/drawingml/2006/main">
            <a:off x="2095500" y="40386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STRESS</a:t>
            </a:r>
          </a:p>
        </p:txBody>
      </p:sp>
      <p:sp>
        <p:nvSpPr>
          <p:cNvPr id="17" name="">
            <a:extLst xmlns:a="http://schemas.openxmlformats.org/drawingml/2006/main">
              <a:ext uri="{FF2B5EF4-FFF2-40B4-BE49-F238E27FC236}">
                <a16:creationId xmlns:a16="http://schemas.microsoft.com/office/drawing/2014/main" id="{89F49BBF-0FEC-4934-B690-A09F523B498F}"/>
              </a:ext>
            </a:extLst>
          </p:cNvPr>
          <p:cNvSpPr>
            <a:spLocks xmlns:a="http://schemas.openxmlformats.org/drawingml/2006/main" noGrp="1"/>
          </p:cNvSpPr>
          <p:nvPr/>
        </p:nvSpPr>
        <p:spPr>
          <a:xfrm xmlns:a="http://schemas.openxmlformats.org/drawingml/2006/main">
            <a:off x="3429000" y="40005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Heat + cloud + demand + outage</a:t>
            </a:r>
          </a:p>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288 × 15-minute timesteps</a:t>
            </a:r>
          </a:p>
        </p:txBody>
      </p:sp>
      <p:sp>
        <p:nvSpPr>
          <p:cNvPr id="18" name="">
            <a:extLst xmlns:a="http://schemas.openxmlformats.org/drawingml/2006/main">
              <a:ext uri="{FF2B5EF4-FFF2-40B4-BE49-F238E27FC236}">
                <a16:creationId xmlns:a16="http://schemas.microsoft.com/office/drawing/2014/main" id="{534ACB5C-1A5F-4E65-B31D-3798E8588920}"/>
              </a:ext>
            </a:extLst>
          </p:cNvPr>
          <p:cNvSpPr>
            <a:spLocks xmlns:a="http://schemas.openxmlformats.org/drawingml/2006/main" noGrp="1"/>
          </p:cNvSpPr>
          <p:nvPr/>
        </p:nvSpPr>
        <p:spPr>
          <a:xfrm xmlns:a="http://schemas.openxmlformats.org/drawingml/2006/main">
            <a:off x="609600" y="50863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4EFB86F1-540F-4E98-9E2B-5EC0DBB13D8B}"/>
              </a:ext>
            </a:extLst>
          </p:cNvPr>
          <p:cNvSpPr>
            <a:spLocks xmlns:a="http://schemas.openxmlformats.org/drawingml/2006/main" noGrp="1"/>
          </p:cNvSpPr>
          <p:nvPr/>
        </p:nvSpPr>
        <p:spPr>
          <a:xfrm xmlns:a="http://schemas.openxmlformats.org/drawingml/2006/main">
            <a:off x="1162050" y="5219700"/>
            <a:ext cx="723900" cy="28575"/>
          </a:xfrm>
          <a:prstGeom xmlns:a="http://schemas.openxmlformats.org/drawingml/2006/main" prst="rect">
            <a:avLst/>
          </a:prstGeom>
          <a:solidFill xmlns:a="http://schemas.openxmlformats.org/drawingml/2006/main">
            <a:srgbClr val="2F6B4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6390DE1-55DD-46E4-92DE-D4758AEADDAE}"/>
              </a:ext>
            </a:extLst>
          </p:cNvPr>
          <p:cNvSpPr>
            <a:spLocks xmlns:a="http://schemas.openxmlformats.org/drawingml/2006/main" noGrp="1"/>
          </p:cNvSpPr>
          <p:nvPr/>
        </p:nvSpPr>
        <p:spPr>
          <a:xfrm xmlns:a="http://schemas.openxmlformats.org/drawingml/2006/main">
            <a:off x="2095500" y="5067300"/>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PROVE</a:t>
            </a:r>
          </a:p>
        </p:txBody>
      </p:sp>
      <p:sp>
        <p:nvSpPr>
          <p:cNvPr id="21" name="">
            <a:extLst xmlns:a="http://schemas.openxmlformats.org/drawingml/2006/main">
              <a:ext uri="{FF2B5EF4-FFF2-40B4-BE49-F238E27FC236}">
                <a16:creationId xmlns:a16="http://schemas.microsoft.com/office/drawing/2014/main" id="{07569E76-CF26-445A-9FFD-265E4E50D39D}"/>
              </a:ext>
            </a:extLst>
          </p:cNvPr>
          <p:cNvSpPr>
            <a:spLocks xmlns:a="http://schemas.openxmlformats.org/drawingml/2006/main" noGrp="1"/>
          </p:cNvSpPr>
          <p:nvPr/>
        </p:nvSpPr>
        <p:spPr>
          <a:xfrm xmlns:a="http://schemas.openxmlformats.org/drawingml/2006/main">
            <a:off x="3429000" y="5029200"/>
            <a:ext cx="390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Same seed before / after</a:t>
            </a:r>
          </a:p>
          <a:p xmlns:a="http://schemas.openxmlformats.org/drawingml/2006/main">
            <a:pPr>
              <a:defRPr sz="1500" b="1" i="0">
                <a:solidFill>
                  <a:srgbClr val="17362C"/>
                </a:solidFill>
                <a:latin typeface="Arial"/>
                <a:ea typeface="Arial"/>
                <a:cs typeface="Arial"/>
              </a:defRPr>
            </a:pPr>
            <a:r>
              <a:rPr sz="1500" b="1" i="0">
                <a:solidFill>
                  <a:srgbClr val="17362C"/>
                </a:solidFill>
                <a:latin typeface="Arial"/>
                <a:ea typeface="Arial"/>
                <a:cs typeface="Arial"/>
              </a:rPr>
              <a:t>Holdouts + assumption shocks</a:t>
            </a:r>
          </a:p>
        </p:txBody>
      </p:sp>
      <p:sp>
        <p:nvSpPr>
          <p:cNvPr id="22" name="">
            <a:extLst xmlns:a="http://schemas.openxmlformats.org/drawingml/2006/main">
              <a:ext uri="{FF2B5EF4-FFF2-40B4-BE49-F238E27FC236}">
                <a16:creationId xmlns:a16="http://schemas.microsoft.com/office/drawing/2014/main" id="{953001CA-F2E6-4035-AD98-C5048CD4BF8A}"/>
              </a:ext>
            </a:extLst>
          </p:cNvPr>
          <p:cNvSpPr>
            <a:spLocks xmlns:a="http://schemas.openxmlformats.org/drawingml/2006/main" noGrp="1"/>
          </p:cNvSpPr>
          <p:nvPr/>
        </p:nvSpPr>
        <p:spPr>
          <a:xfrm xmlns:a="http://schemas.openxmlformats.org/drawingml/2006/main">
            <a:off x="8048625" y="5572125"/>
            <a:ext cx="3533775" cy="514350"/>
          </a:xfrm>
          <a:prstGeom xmlns:a="http://schemas.openxmlformats.org/drawingml/2006/main" prst="roundRect">
            <a:avLst>
              <a:gd name="adj" fmla="val 25926"/>
            </a:avLst>
          </a:prstGeom>
          <a:solidFill xmlns:a="http://schemas.openxmlformats.org/drawingml/2006/main">
            <a:srgbClr val="17362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9E05587-B134-4762-8DC3-D8F5D6BE8439}"/>
              </a:ext>
            </a:extLst>
          </p:cNvPr>
          <p:cNvSpPr>
            <a:spLocks xmlns:a="http://schemas.openxmlformats.org/drawingml/2006/main" noGrp="1"/>
          </p:cNvSpPr>
          <p:nvPr/>
        </p:nvSpPr>
        <p:spPr>
          <a:xfrm xmlns:a="http://schemas.openxmlformats.org/drawingml/2006/main">
            <a:off x="8286750" y="570547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050" b="1" i="0">
                <a:solidFill>
                  <a:srgbClr val="FFFFFF"/>
                </a:solidFill>
                <a:latin typeface="Arial"/>
                <a:ea typeface="Arial"/>
                <a:cs typeface="Arial"/>
              </a:defRPr>
            </a:pPr>
            <a:r>
              <a:rPr sz="1050" b="1" i="0">
                <a:solidFill>
                  <a:srgbClr val="FFFFFF"/>
                </a:solidFill>
                <a:latin typeface="Arial"/>
                <a:ea typeface="Arial"/>
                <a:cs typeface="Arial"/>
              </a:rPr>
              <a:t>RUNS LOCALLY IN THE PUBLIC BROWSER</a:t>
            </a:r>
          </a:p>
        </p:txBody>
      </p:sp>
      <p:sp>
        <p:nvSpPr>
          <p:cNvPr id="24" name="">
            <a:extLst xmlns:a="http://schemas.openxmlformats.org/drawingml/2006/main">
              <a:ext uri="{FF2B5EF4-FFF2-40B4-BE49-F238E27FC236}">
                <a16:creationId xmlns:a16="http://schemas.microsoft.com/office/drawing/2014/main" id="{5F8A813B-0549-4145-9D99-92CA979ED739}"/>
              </a:ext>
            </a:extLst>
          </p:cNvPr>
          <p:cNvSpPr>
            <a:spLocks xmlns:a="http://schemas.openxmlformats.org/drawingml/2006/main" noGrp="1"/>
          </p:cNvSpPr>
          <p:nvPr/>
        </p:nvSpPr>
        <p:spPr>
          <a:xfrm xmlns:a="http://schemas.openxmlformats.org/drawingml/2006/main">
            <a:off x="609600" y="6334125"/>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defRPr sz="900" b="0" i="0">
                <a:solidFill>
                  <a:srgbClr val="5F6E66"/>
                </a:solidFill>
                <a:latin typeface="Arial"/>
                <a:ea typeface="Arial"/>
                <a:cs typeface="Arial"/>
              </a:defRPr>
            </a:pPr>
            <a:r>
              <a:rPr sz="900" b="0" i="0">
                <a:solidFill>
                  <a:srgbClr val="5F6E66"/>
                </a:solidFill>
                <a:latin typeface="Arial"/>
                <a:ea typeface="Arial"/>
                <a:cs typeface="Arial"/>
              </a:rPr>
              <a:t>Disclosed reference: Ausgrid demand + PV + 9,210 outage/restoration records</a:t>
            </a:r>
          </a:p>
        </p:txBody>
      </p:sp>
    </p:spTree>
    <p:extLst>
      <p:ext uri="{BB962C8B-B14F-4D97-AF65-F5344CB8AC3E}">
        <p14:creationId xmlns:p14="http://schemas.microsoft.com/office/powerpoint/2010/main" val="1236465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052165E-C51C-4DD2-BBD3-4DAAD528B5FF}"/>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RISK EVIDENCE</a:t>
            </a:r>
          </a:p>
        </p:txBody>
      </p:sp>
      <p:sp>
        <p:nvSpPr>
          <p:cNvPr id="2" name="">
            <a:extLst xmlns:a="http://schemas.openxmlformats.org/drawingml/2006/main">
              <a:ext uri="{FF2B5EF4-FFF2-40B4-BE49-F238E27FC236}">
                <a16:creationId xmlns:a16="http://schemas.microsoft.com/office/drawing/2014/main" id="{B81DF8E4-EC2F-4F4A-8F6C-1D603609129E}"/>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544"/>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The baseline fails in 15 futures. Grounded explains every one.</a:t>
            </a:r>
          </a:p>
        </p:txBody>
      </p:sp>
      <p:sp>
        <p:nvSpPr>
          <p:cNvPr id="3" name="">
            <a:extLst xmlns:a="http://schemas.openxmlformats.org/drawingml/2006/main">
              <a:ext uri="{FF2B5EF4-FFF2-40B4-BE49-F238E27FC236}">
                <a16:creationId xmlns:a16="http://schemas.microsoft.com/office/drawing/2014/main" id="{58943F1D-6FF1-4C2D-AF42-E7FBF5DBFBF5}"/>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5271F0-7422-48C8-81C8-5A77BA60CF6B}"/>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C2761346-C79B-4CA0-AF27-EC4BF0678375}"/>
              </a:ext>
            </a:extLst>
          </p:cNvPr>
          <p:cNvSpPr>
            <a:spLocks xmlns:a="http://schemas.openxmlformats.org/drawingml/2006/main" noGrp="1"/>
          </p:cNvSpPr>
          <p:nvPr/>
        </p:nvSpPr>
        <p:spPr>
          <a:xfrm xmlns:a="http://schemas.openxmlformats.org/drawingml/2006/main">
            <a:off x="609600" y="2076450"/>
            <a:ext cx="3143250" cy="1981200"/>
          </a:xfrm>
          <a:prstGeom xmlns:a="http://schemas.openxmlformats.org/drawingml/2006/main" prst="roundRect">
            <a:avLst>
              <a:gd name="adj" fmla="val 10577"/>
            </a:avLst>
          </a:prstGeom>
          <a:solidFill xmlns:a="http://schemas.openxmlformats.org/drawingml/2006/main">
            <a:srgbClr val="17362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B79BBBC-8B3E-4EA5-A8AE-A076B23DFF94}"/>
              </a:ext>
            </a:extLst>
          </p:cNvPr>
          <p:cNvSpPr>
            <a:spLocks xmlns:a="http://schemas.openxmlformats.org/drawingml/2006/main" noGrp="1"/>
          </p:cNvSpPr>
          <p:nvPr/>
        </p:nvSpPr>
        <p:spPr>
          <a:xfrm xmlns:a="http://schemas.openxmlformats.org/drawingml/2006/main">
            <a:off x="876300" y="2286000"/>
            <a:ext cx="2619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276"/>
          </a:bodyPr>
          <a:lstStyle xmlns:a="http://schemas.openxmlformats.org/drawingml/2006/main"/>
          <a:p xmlns:a="http://schemas.openxmlformats.org/drawingml/2006/main">
            <a:pPr>
              <a:defRPr sz="4350" b="1" i="0">
                <a:solidFill>
                  <a:srgbClr val="FFFFFF"/>
                </a:solidFill>
                <a:latin typeface="Arial"/>
                <a:ea typeface="Arial"/>
                <a:cs typeface="Arial"/>
              </a:defRPr>
            </a:pPr>
            <a:r>
              <a:rPr sz="4350" b="1" i="0">
                <a:solidFill>
                  <a:srgbClr val="FFFFFF"/>
                </a:solidFill>
                <a:latin typeface="Arial"/>
                <a:ea typeface="Arial"/>
                <a:cs typeface="Arial"/>
              </a:rPr>
              <a:t>3.0%</a:t>
            </a:r>
          </a:p>
        </p:txBody>
      </p:sp>
      <p:sp>
        <p:nvSpPr>
          <p:cNvPr id="7" name="">
            <a:extLst xmlns:a="http://schemas.openxmlformats.org/drawingml/2006/main">
              <a:ext uri="{FF2B5EF4-FFF2-40B4-BE49-F238E27FC236}">
                <a16:creationId xmlns:a16="http://schemas.microsoft.com/office/drawing/2014/main" id="{6A2E53E2-0CA2-4926-872D-FB6CB73FF382}"/>
              </a:ext>
            </a:extLst>
          </p:cNvPr>
          <p:cNvSpPr>
            <a:spLocks xmlns:a="http://schemas.openxmlformats.org/drawingml/2006/main" noGrp="1"/>
          </p:cNvSpPr>
          <p:nvPr/>
        </p:nvSpPr>
        <p:spPr>
          <a:xfrm xmlns:a="http://schemas.openxmlformats.org/drawingml/2006/main">
            <a:off x="895350" y="30289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i="0">
                <a:solidFill>
                  <a:srgbClr val="DCE8C9"/>
                </a:solidFill>
                <a:latin typeface="Arial"/>
                <a:ea typeface="Arial"/>
                <a:cs typeface="Arial"/>
              </a:defRPr>
            </a:pPr>
            <a:r>
              <a:rPr sz="1350" b="1" i="0">
                <a:solidFill>
                  <a:srgbClr val="DCE8C9"/>
                </a:solidFill>
                <a:latin typeface="Arial"/>
                <a:ea typeface="Arial"/>
                <a:cs typeface="Arial"/>
              </a:rPr>
              <a:t>critical-loss risk</a:t>
            </a:r>
          </a:p>
        </p:txBody>
      </p:sp>
      <p:sp>
        <p:nvSpPr>
          <p:cNvPr id="8" name="">
            <a:extLst xmlns:a="http://schemas.openxmlformats.org/drawingml/2006/main">
              <a:ext uri="{FF2B5EF4-FFF2-40B4-BE49-F238E27FC236}">
                <a16:creationId xmlns:a16="http://schemas.microsoft.com/office/drawing/2014/main" id="{F42D37F4-64E2-4581-8098-14E6DC623B3E}"/>
              </a:ext>
            </a:extLst>
          </p:cNvPr>
          <p:cNvSpPr>
            <a:spLocks xmlns:a="http://schemas.openxmlformats.org/drawingml/2006/main" noGrp="1"/>
          </p:cNvSpPr>
          <p:nvPr/>
        </p:nvSpPr>
        <p:spPr>
          <a:xfrm xmlns:a="http://schemas.openxmlformats.org/drawingml/2006/main">
            <a:off x="895350" y="34385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444"/>
          </a:bodyPr>
          <a:lstStyle xmlns:a="http://schemas.openxmlformats.org/drawingml/2006/main"/>
          <a:p xmlns:a="http://schemas.openxmlformats.org/drawingml/2006/main">
            <a:pPr>
              <a:defRPr sz="1350" b="1" i="0">
                <a:solidFill>
                  <a:srgbClr val="FFFFFF"/>
                </a:solidFill>
                <a:latin typeface="Arial"/>
                <a:ea typeface="Arial"/>
                <a:cs typeface="Arial"/>
              </a:defRPr>
            </a:pPr>
            <a:r>
              <a:rPr sz="1350" b="1" i="0">
                <a:solidFill>
                  <a:srgbClr val="FFFFFF"/>
                </a:solidFill>
                <a:latin typeface="Arial"/>
                <a:ea typeface="Arial"/>
                <a:cs typeface="Arial"/>
              </a:rPr>
              <a:t>15 / 500 futures</a:t>
            </a:r>
          </a:p>
        </p:txBody>
      </p:sp>
      <p:sp>
        <p:nvSpPr>
          <p:cNvPr id="9" name="">
            <a:extLst xmlns:a="http://schemas.openxmlformats.org/drawingml/2006/main">
              <a:ext uri="{FF2B5EF4-FFF2-40B4-BE49-F238E27FC236}">
                <a16:creationId xmlns:a16="http://schemas.microsoft.com/office/drawing/2014/main" id="{299BFEAD-1097-4133-B5A3-998EADB0E1DF}"/>
              </a:ext>
            </a:extLst>
          </p:cNvPr>
          <p:cNvSpPr>
            <a:spLocks xmlns:a="http://schemas.openxmlformats.org/drawingml/2006/main" noGrp="1"/>
          </p:cNvSpPr>
          <p:nvPr/>
        </p:nvSpPr>
        <p:spPr>
          <a:xfrm xmlns:a="http://schemas.openxmlformats.org/drawingml/2006/main">
            <a:off x="895350" y="375285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809"/>
          </a:bodyPr>
          <a:lstStyle xmlns:a="http://schemas.openxmlformats.org/drawingml/2006/main"/>
          <a:p xmlns:a="http://schemas.openxmlformats.org/drawingml/2006/main">
            <a:pPr>
              <a:defRPr sz="1050" b="1" i="0">
                <a:solidFill>
                  <a:srgbClr val="8EAA83"/>
                </a:solidFill>
                <a:latin typeface="Arial"/>
                <a:ea typeface="Arial"/>
                <a:cs typeface="Arial"/>
              </a:defRPr>
            </a:pPr>
            <a:r>
              <a:rPr sz="1050" b="1" i="0">
                <a:solidFill>
                  <a:srgbClr val="8EAA83"/>
                </a:solidFill>
                <a:latin typeface="Arial"/>
                <a:ea typeface="Arial"/>
                <a:cs typeface="Arial"/>
              </a:rPr>
              <a:t>95% CI, 1.8 to 4.9%</a:t>
            </a:r>
          </a:p>
        </p:txBody>
      </p:sp>
      <p:sp>
        <p:nvSpPr>
          <p:cNvPr id="10" name="">
            <a:extLst xmlns:a="http://schemas.openxmlformats.org/drawingml/2006/main">
              <a:ext uri="{FF2B5EF4-FFF2-40B4-BE49-F238E27FC236}">
                <a16:creationId xmlns:a16="http://schemas.microsoft.com/office/drawing/2014/main" id="{12209D7A-1F38-44A7-A993-79A9FF3CA7E6}"/>
              </a:ext>
            </a:extLst>
          </p:cNvPr>
          <p:cNvSpPr>
            <a:spLocks xmlns:a="http://schemas.openxmlformats.org/drawingml/2006/main" noGrp="1"/>
          </p:cNvSpPr>
          <p:nvPr/>
        </p:nvSpPr>
        <p:spPr>
          <a:xfrm xmlns:a="http://schemas.openxmlformats.org/drawingml/2006/main">
            <a:off x="4286250" y="20955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CAUSAL CHAIN</a:t>
            </a:r>
          </a:p>
        </p:txBody>
      </p:sp>
      <p:sp>
        <p:nvSpPr>
          <p:cNvPr id="11" name="">
            <a:extLst xmlns:a="http://schemas.openxmlformats.org/drawingml/2006/main">
              <a:ext uri="{FF2B5EF4-FFF2-40B4-BE49-F238E27FC236}">
                <a16:creationId xmlns:a16="http://schemas.microsoft.com/office/drawing/2014/main" id="{BE068739-A495-4C41-A465-49A47CE905FF}"/>
              </a:ext>
            </a:extLst>
          </p:cNvPr>
          <p:cNvSpPr>
            <a:spLocks xmlns:a="http://schemas.openxmlformats.org/drawingml/2006/main" noGrp="1"/>
          </p:cNvSpPr>
          <p:nvPr/>
        </p:nvSpPr>
        <p:spPr>
          <a:xfrm xmlns:a="http://schemas.openxmlformats.org/drawingml/2006/main">
            <a:off x="4267200" y="255270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12" name="">
            <a:extLst xmlns:a="http://schemas.openxmlformats.org/drawingml/2006/main">
              <a:ext uri="{FF2B5EF4-FFF2-40B4-BE49-F238E27FC236}">
                <a16:creationId xmlns:a16="http://schemas.microsoft.com/office/drawing/2014/main" id="{2C061B45-3880-4AA3-A571-A53578D5CDED}"/>
              </a:ext>
            </a:extLst>
          </p:cNvPr>
          <p:cNvSpPr>
            <a:spLocks xmlns:a="http://schemas.openxmlformats.org/drawingml/2006/main" noGrp="1"/>
          </p:cNvSpPr>
          <p:nvPr/>
        </p:nvSpPr>
        <p:spPr>
          <a:xfrm xmlns:a="http://schemas.openxmlformats.org/drawingml/2006/main">
            <a:off x="4419600" y="27241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01  Demand surges</a:t>
            </a:r>
          </a:p>
        </p:txBody>
      </p:sp>
      <p:sp>
        <p:nvSpPr>
          <p:cNvPr id="13" name="">
            <a:extLst xmlns:a="http://schemas.openxmlformats.org/drawingml/2006/main">
              <a:ext uri="{FF2B5EF4-FFF2-40B4-BE49-F238E27FC236}">
                <a16:creationId xmlns:a16="http://schemas.microsoft.com/office/drawing/2014/main" id="{20FFE297-5602-4B6E-B751-1DD928734AB8}"/>
              </a:ext>
            </a:extLst>
          </p:cNvPr>
          <p:cNvSpPr>
            <a:spLocks xmlns:a="http://schemas.openxmlformats.org/drawingml/2006/main" noGrp="1"/>
          </p:cNvSpPr>
          <p:nvPr/>
        </p:nvSpPr>
        <p:spPr>
          <a:xfrm xmlns:a="http://schemas.openxmlformats.org/drawingml/2006/main">
            <a:off x="6457950" y="255270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14" name="">
            <a:extLst xmlns:a="http://schemas.openxmlformats.org/drawingml/2006/main">
              <a:ext uri="{FF2B5EF4-FFF2-40B4-BE49-F238E27FC236}">
                <a16:creationId xmlns:a16="http://schemas.microsoft.com/office/drawing/2014/main" id="{E6CBD74F-2B62-4F03-9EDF-E4CB6F1F548D}"/>
              </a:ext>
            </a:extLst>
          </p:cNvPr>
          <p:cNvSpPr>
            <a:spLocks xmlns:a="http://schemas.openxmlformats.org/drawingml/2006/main" noGrp="1"/>
          </p:cNvSpPr>
          <p:nvPr/>
        </p:nvSpPr>
        <p:spPr>
          <a:xfrm xmlns:a="http://schemas.openxmlformats.org/drawingml/2006/main">
            <a:off x="6610350" y="27241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02  Heat spikes</a:t>
            </a:r>
          </a:p>
        </p:txBody>
      </p:sp>
      <p:sp>
        <p:nvSpPr>
          <p:cNvPr id="15" name="">
            <a:extLst xmlns:a="http://schemas.openxmlformats.org/drawingml/2006/main">
              <a:ext uri="{FF2B5EF4-FFF2-40B4-BE49-F238E27FC236}">
                <a16:creationId xmlns:a16="http://schemas.microsoft.com/office/drawing/2014/main" id="{99D998F8-0B69-4BDF-A4C8-EBD4E26921D1}"/>
              </a:ext>
            </a:extLst>
          </p:cNvPr>
          <p:cNvSpPr>
            <a:spLocks xmlns:a="http://schemas.openxmlformats.org/drawingml/2006/main" noGrp="1"/>
          </p:cNvSpPr>
          <p:nvPr/>
        </p:nvSpPr>
        <p:spPr>
          <a:xfrm xmlns:a="http://schemas.openxmlformats.org/drawingml/2006/main">
            <a:off x="8648700" y="255270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16" name="">
            <a:extLst xmlns:a="http://schemas.openxmlformats.org/drawingml/2006/main">
              <a:ext uri="{FF2B5EF4-FFF2-40B4-BE49-F238E27FC236}">
                <a16:creationId xmlns:a16="http://schemas.microsoft.com/office/drawing/2014/main" id="{D825380D-968E-4DFE-BFE6-3CD0714B1B0A}"/>
              </a:ext>
            </a:extLst>
          </p:cNvPr>
          <p:cNvSpPr>
            <a:spLocks xmlns:a="http://schemas.openxmlformats.org/drawingml/2006/main" noGrp="1"/>
          </p:cNvSpPr>
          <p:nvPr/>
        </p:nvSpPr>
        <p:spPr>
          <a:xfrm xmlns:a="http://schemas.openxmlformats.org/drawingml/2006/main">
            <a:off x="8801100" y="272415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03  Cloud cover</a:t>
            </a:r>
          </a:p>
        </p:txBody>
      </p:sp>
      <p:sp>
        <p:nvSpPr>
          <p:cNvPr id="17" name="">
            <a:extLst xmlns:a="http://schemas.openxmlformats.org/drawingml/2006/main">
              <a:ext uri="{FF2B5EF4-FFF2-40B4-BE49-F238E27FC236}">
                <a16:creationId xmlns:a16="http://schemas.microsoft.com/office/drawing/2014/main" id="{993D0C77-013A-4C8D-9392-B3B2B5742117}"/>
              </a:ext>
            </a:extLst>
          </p:cNvPr>
          <p:cNvSpPr>
            <a:spLocks xmlns:a="http://schemas.openxmlformats.org/drawingml/2006/main" noGrp="1"/>
          </p:cNvSpPr>
          <p:nvPr/>
        </p:nvSpPr>
        <p:spPr>
          <a:xfrm xmlns:a="http://schemas.openxmlformats.org/drawingml/2006/main">
            <a:off x="4267200" y="348615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18" name="">
            <a:extLst xmlns:a="http://schemas.openxmlformats.org/drawingml/2006/main">
              <a:ext uri="{FF2B5EF4-FFF2-40B4-BE49-F238E27FC236}">
                <a16:creationId xmlns:a16="http://schemas.microsoft.com/office/drawing/2014/main" id="{513CAAF1-CF5E-4721-8934-43BB26029827}"/>
              </a:ext>
            </a:extLst>
          </p:cNvPr>
          <p:cNvSpPr>
            <a:spLocks xmlns:a="http://schemas.openxmlformats.org/drawingml/2006/main" noGrp="1"/>
          </p:cNvSpPr>
          <p:nvPr/>
        </p:nvSpPr>
        <p:spPr>
          <a:xfrm xmlns:a="http://schemas.openxmlformats.org/drawingml/2006/main">
            <a:off x="4419600" y="36576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04  Grid lost</a:t>
            </a:r>
          </a:p>
        </p:txBody>
      </p:sp>
      <p:sp>
        <p:nvSpPr>
          <p:cNvPr id="19" name="">
            <a:extLst xmlns:a="http://schemas.openxmlformats.org/drawingml/2006/main">
              <a:ext uri="{FF2B5EF4-FFF2-40B4-BE49-F238E27FC236}">
                <a16:creationId xmlns:a16="http://schemas.microsoft.com/office/drawing/2014/main" id="{B2737ACF-6DC7-4521-9136-273317482714}"/>
              </a:ext>
            </a:extLst>
          </p:cNvPr>
          <p:cNvSpPr>
            <a:spLocks xmlns:a="http://schemas.openxmlformats.org/drawingml/2006/main" noGrp="1"/>
          </p:cNvSpPr>
          <p:nvPr/>
        </p:nvSpPr>
        <p:spPr>
          <a:xfrm xmlns:a="http://schemas.openxmlformats.org/drawingml/2006/main">
            <a:off x="6457950" y="3486150"/>
            <a:ext cx="1866900" cy="609600"/>
          </a:xfrm>
          <a:prstGeom xmlns:a="http://schemas.openxmlformats.org/drawingml/2006/main" prst="roundRect">
            <a:avLst>
              <a:gd name="adj" fmla="val 21875"/>
            </a:avLst>
          </a:prstGeom>
          <a:solidFill xmlns:a="http://schemas.openxmlformats.org/drawingml/2006/main">
            <a:srgbClr val="F7F5EF"/>
          </a:solidFill>
          <a:ln xmlns:a="http://schemas.openxmlformats.org/drawingml/2006/main" w="9525">
            <a:solidFill>
              <a:srgbClr val="D8DED7"/>
            </a:solidFill>
          </a:ln>
        </p:spPr>
      </p:sp>
      <p:sp>
        <p:nvSpPr>
          <p:cNvPr id="20" name="">
            <a:extLst xmlns:a="http://schemas.openxmlformats.org/drawingml/2006/main">
              <a:ext uri="{FF2B5EF4-FFF2-40B4-BE49-F238E27FC236}">
                <a16:creationId xmlns:a16="http://schemas.microsoft.com/office/drawing/2014/main" id="{272A7C8E-8DE8-4598-8697-58E6E60F9954}"/>
              </a:ext>
            </a:extLst>
          </p:cNvPr>
          <p:cNvSpPr>
            <a:spLocks xmlns:a="http://schemas.openxmlformats.org/drawingml/2006/main" noGrp="1"/>
          </p:cNvSpPr>
          <p:nvPr/>
        </p:nvSpPr>
        <p:spPr>
          <a:xfrm xmlns:a="http://schemas.openxmlformats.org/drawingml/2006/main">
            <a:off x="6610350" y="36576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defRPr sz="1200" b="1" i="0">
                <a:solidFill>
                  <a:srgbClr val="17362C"/>
                </a:solidFill>
                <a:latin typeface="Arial"/>
                <a:ea typeface="Arial"/>
                <a:cs typeface="Arial"/>
              </a:defRPr>
            </a:pPr>
            <a:r>
              <a:rPr sz="1200" b="1" i="0">
                <a:solidFill>
                  <a:srgbClr val="17362C"/>
                </a:solidFill>
                <a:latin typeface="Arial"/>
                <a:ea typeface="Arial"/>
                <a:cs typeface="Arial"/>
              </a:rPr>
              <a:t>05  Battery 10%</a:t>
            </a:r>
          </a:p>
        </p:txBody>
      </p:sp>
      <p:sp>
        <p:nvSpPr>
          <p:cNvPr id="21" name="">
            <a:extLst xmlns:a="http://schemas.openxmlformats.org/drawingml/2006/main">
              <a:ext uri="{FF2B5EF4-FFF2-40B4-BE49-F238E27FC236}">
                <a16:creationId xmlns:a16="http://schemas.microsoft.com/office/drawing/2014/main" id="{9F5EA3D1-CC44-40BB-87C7-3EFB42E91A7A}"/>
              </a:ext>
            </a:extLst>
          </p:cNvPr>
          <p:cNvSpPr>
            <a:spLocks xmlns:a="http://schemas.openxmlformats.org/drawingml/2006/main" noGrp="1"/>
          </p:cNvSpPr>
          <p:nvPr/>
        </p:nvSpPr>
        <p:spPr>
          <a:xfrm xmlns:a="http://schemas.openxmlformats.org/drawingml/2006/main">
            <a:off x="8648700" y="3486150"/>
            <a:ext cx="1866900" cy="609600"/>
          </a:xfrm>
          <a:prstGeom xmlns:a="http://schemas.openxmlformats.org/drawingml/2006/main" prst="roundRect">
            <a:avLst>
              <a:gd name="adj" fmla="val 21875"/>
            </a:avLst>
          </a:prstGeom>
          <a:solidFill xmlns:a="http://schemas.openxmlformats.org/drawingml/2006/main">
            <a:srgbClr val="E8DDCE"/>
          </a:solidFill>
          <a:ln xmlns:a="http://schemas.openxmlformats.org/drawingml/2006/main" w="9525">
            <a:solidFill>
              <a:srgbClr val="D8DED7"/>
            </a:solidFill>
          </a:ln>
        </p:spPr>
      </p:sp>
      <p:sp>
        <p:nvSpPr>
          <p:cNvPr id="22" name="">
            <a:extLst xmlns:a="http://schemas.openxmlformats.org/drawingml/2006/main">
              <a:ext uri="{FF2B5EF4-FFF2-40B4-BE49-F238E27FC236}">
                <a16:creationId xmlns:a16="http://schemas.microsoft.com/office/drawing/2014/main" id="{B5F6CD7F-85F4-494B-A851-68F3905C4F09}"/>
              </a:ext>
            </a:extLst>
          </p:cNvPr>
          <p:cNvSpPr>
            <a:spLocks xmlns:a="http://schemas.openxmlformats.org/drawingml/2006/main" noGrp="1"/>
          </p:cNvSpPr>
          <p:nvPr/>
        </p:nvSpPr>
        <p:spPr>
          <a:xfrm xmlns:a="http://schemas.openxmlformats.org/drawingml/2006/main">
            <a:off x="8801100" y="36576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7816"/>
          </a:bodyPr>
          <a:lstStyle xmlns:a="http://schemas.openxmlformats.org/drawingml/2006/main"/>
          <a:p xmlns:a="http://schemas.openxmlformats.org/drawingml/2006/main">
            <a:pPr>
              <a:defRPr sz="1200" b="1" i="0">
                <a:solidFill>
                  <a:srgbClr val="AA4B3C"/>
                </a:solidFill>
                <a:latin typeface="Arial"/>
                <a:ea typeface="Arial"/>
                <a:cs typeface="Arial"/>
              </a:defRPr>
            </a:pPr>
            <a:r>
              <a:rPr sz="1200" b="1" i="0">
                <a:solidFill>
                  <a:srgbClr val="AA4B3C"/>
                </a:solidFill>
                <a:latin typeface="Arial"/>
                <a:ea typeface="Arial"/>
                <a:cs typeface="Arial"/>
              </a:rPr>
              <a:t>06  Hospital unserved</a:t>
            </a:r>
          </a:p>
        </p:txBody>
      </p:sp>
      <p:sp>
        <p:nvSpPr>
          <p:cNvPr id="23" name="">
            <a:extLst xmlns:a="http://schemas.openxmlformats.org/drawingml/2006/main">
              <a:ext uri="{FF2B5EF4-FFF2-40B4-BE49-F238E27FC236}">
                <a16:creationId xmlns:a16="http://schemas.microsoft.com/office/drawing/2014/main" id="{D72C1B2F-6836-4A28-80F8-6A9D18BCC9F0}"/>
              </a:ext>
            </a:extLst>
          </p:cNvPr>
          <p:cNvSpPr>
            <a:spLocks xmlns:a="http://schemas.openxmlformats.org/drawingml/2006/main" noGrp="1"/>
          </p:cNvSpPr>
          <p:nvPr/>
        </p:nvSpPr>
        <p:spPr>
          <a:xfrm xmlns:a="http://schemas.openxmlformats.org/drawingml/2006/main">
            <a:off x="609600" y="45148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B2DF466-144D-4D11-9A64-A787FD06F0D6}"/>
              </a:ext>
            </a:extLst>
          </p:cNvPr>
          <p:cNvSpPr>
            <a:spLocks xmlns:a="http://schemas.openxmlformats.org/drawingml/2006/main" noGrp="1"/>
          </p:cNvSpPr>
          <p:nvPr/>
        </p:nvSpPr>
        <p:spPr>
          <a:xfrm xmlns:a="http://schemas.openxmlformats.org/drawingml/2006/main">
            <a:off x="609600" y="485775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7/7</a:t>
            </a:r>
          </a:p>
        </p:txBody>
      </p:sp>
      <p:sp>
        <p:nvSpPr>
          <p:cNvPr id="25" name="">
            <a:extLst xmlns:a="http://schemas.openxmlformats.org/drawingml/2006/main">
              <a:ext uri="{FF2B5EF4-FFF2-40B4-BE49-F238E27FC236}">
                <a16:creationId xmlns:a16="http://schemas.microsoft.com/office/drawing/2014/main" id="{62861575-4087-4D4D-8366-C555A9470C1A}"/>
              </a:ext>
            </a:extLst>
          </p:cNvPr>
          <p:cNvSpPr>
            <a:spLocks xmlns:a="http://schemas.openxmlformats.org/drawingml/2006/main" noGrp="1"/>
          </p:cNvSpPr>
          <p:nvPr/>
        </p:nvSpPr>
        <p:spPr>
          <a:xfrm xmlns:a="http://schemas.openxmlformats.org/drawingml/2006/main">
            <a:off x="609600" y="53816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PHYSICS INVARIANTS</a:t>
            </a:r>
          </a:p>
        </p:txBody>
      </p:sp>
      <p:sp>
        <p:nvSpPr>
          <p:cNvPr id="26" name="">
            <a:extLst xmlns:a="http://schemas.openxmlformats.org/drawingml/2006/main">
              <a:ext uri="{FF2B5EF4-FFF2-40B4-BE49-F238E27FC236}">
                <a16:creationId xmlns:a16="http://schemas.microsoft.com/office/drawing/2014/main" id="{659B24B9-6247-4CEE-BEE4-7A57D921C7D5}"/>
              </a:ext>
            </a:extLst>
          </p:cNvPr>
          <p:cNvSpPr>
            <a:spLocks xmlns:a="http://schemas.openxmlformats.org/drawingml/2006/main" noGrp="1"/>
          </p:cNvSpPr>
          <p:nvPr/>
        </p:nvSpPr>
        <p:spPr>
          <a:xfrm xmlns:a="http://schemas.openxmlformats.org/drawingml/2006/main">
            <a:off x="2590800" y="485775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1.14e−13</a:t>
            </a:r>
          </a:p>
        </p:txBody>
      </p:sp>
      <p:sp>
        <p:nvSpPr>
          <p:cNvPr id="27" name="">
            <a:extLst xmlns:a="http://schemas.openxmlformats.org/drawingml/2006/main">
              <a:ext uri="{FF2B5EF4-FFF2-40B4-BE49-F238E27FC236}">
                <a16:creationId xmlns:a16="http://schemas.microsoft.com/office/drawing/2014/main" id="{CE63956E-C34E-4722-8FD3-8DA25DC26AA0}"/>
              </a:ext>
            </a:extLst>
          </p:cNvPr>
          <p:cNvSpPr>
            <a:spLocks xmlns:a="http://schemas.openxmlformats.org/drawingml/2006/main" noGrp="1"/>
          </p:cNvSpPr>
          <p:nvPr/>
        </p:nvSpPr>
        <p:spPr>
          <a:xfrm xmlns:a="http://schemas.openxmlformats.org/drawingml/2006/main">
            <a:off x="2590800" y="538162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MAX BALANCE ERROR KWH</a:t>
            </a:r>
          </a:p>
        </p:txBody>
      </p:sp>
      <p:sp>
        <p:nvSpPr>
          <p:cNvPr id="28" name="">
            <a:extLst xmlns:a="http://schemas.openxmlformats.org/drawingml/2006/main">
              <a:ext uri="{FF2B5EF4-FFF2-40B4-BE49-F238E27FC236}">
                <a16:creationId xmlns:a16="http://schemas.microsoft.com/office/drawing/2014/main" id="{1E410370-11CC-402E-8B14-C6CCD06184A4}"/>
              </a:ext>
            </a:extLst>
          </p:cNvPr>
          <p:cNvSpPr>
            <a:spLocks xmlns:a="http://schemas.openxmlformats.org/drawingml/2006/main" noGrp="1"/>
          </p:cNvSpPr>
          <p:nvPr/>
        </p:nvSpPr>
        <p:spPr>
          <a:xfrm xmlns:a="http://schemas.openxmlformats.org/drawingml/2006/main">
            <a:off x="5181600" y="485775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1.000</a:t>
            </a:r>
          </a:p>
        </p:txBody>
      </p:sp>
      <p:sp>
        <p:nvSpPr>
          <p:cNvPr id="29" name="">
            <a:extLst xmlns:a="http://schemas.openxmlformats.org/drawingml/2006/main">
              <a:ext uri="{FF2B5EF4-FFF2-40B4-BE49-F238E27FC236}">
                <a16:creationId xmlns:a16="http://schemas.microsoft.com/office/drawing/2014/main" id="{F01DDE77-A2BD-443B-B280-A36C04AFBC0C}"/>
              </a:ext>
            </a:extLst>
          </p:cNvPr>
          <p:cNvSpPr>
            <a:spLocks xmlns:a="http://schemas.openxmlformats.org/drawingml/2006/main" noGrp="1"/>
          </p:cNvSpPr>
          <p:nvPr/>
        </p:nvSpPr>
        <p:spPr>
          <a:xfrm xmlns:a="http://schemas.openxmlformats.org/drawingml/2006/main">
            <a:off x="5181600" y="5381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ML HOLDOUT AUROC</a:t>
            </a:r>
          </a:p>
        </p:txBody>
      </p:sp>
      <p:sp>
        <p:nvSpPr>
          <p:cNvPr id="30" name="">
            <a:extLst xmlns:a="http://schemas.openxmlformats.org/drawingml/2006/main">
              <a:ext uri="{FF2B5EF4-FFF2-40B4-BE49-F238E27FC236}">
                <a16:creationId xmlns:a16="http://schemas.microsoft.com/office/drawing/2014/main" id="{80DC996F-72DE-4089-9F29-2D9FA23C0C41}"/>
              </a:ext>
            </a:extLst>
          </p:cNvPr>
          <p:cNvSpPr>
            <a:spLocks xmlns:a="http://schemas.openxmlformats.org/drawingml/2006/main" noGrp="1"/>
          </p:cNvSpPr>
          <p:nvPr/>
        </p:nvSpPr>
        <p:spPr>
          <a:xfrm xmlns:a="http://schemas.openxmlformats.org/drawingml/2006/main">
            <a:off x="7486650" y="48577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0.008</a:t>
            </a:r>
          </a:p>
        </p:txBody>
      </p:sp>
      <p:sp>
        <p:nvSpPr>
          <p:cNvPr id="31" name="">
            <a:extLst xmlns:a="http://schemas.openxmlformats.org/drawingml/2006/main">
              <a:ext uri="{FF2B5EF4-FFF2-40B4-BE49-F238E27FC236}">
                <a16:creationId xmlns:a16="http://schemas.microsoft.com/office/drawing/2014/main" id="{399ACB0B-2EF7-4E6A-8209-49CB523583A6}"/>
              </a:ext>
            </a:extLst>
          </p:cNvPr>
          <p:cNvSpPr>
            <a:spLocks xmlns:a="http://schemas.openxmlformats.org/drawingml/2006/main" noGrp="1"/>
          </p:cNvSpPr>
          <p:nvPr/>
        </p:nvSpPr>
        <p:spPr>
          <a:xfrm xmlns:a="http://schemas.openxmlformats.org/drawingml/2006/main">
            <a:off x="7486650" y="5381625"/>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BRIER SCORE</a:t>
            </a:r>
          </a:p>
        </p:txBody>
      </p:sp>
      <p:sp>
        <p:nvSpPr>
          <p:cNvPr id="32" name="">
            <a:extLst xmlns:a="http://schemas.openxmlformats.org/drawingml/2006/main">
              <a:ext uri="{FF2B5EF4-FFF2-40B4-BE49-F238E27FC236}">
                <a16:creationId xmlns:a16="http://schemas.microsoft.com/office/drawing/2014/main" id="{3E72D5B6-AE9A-4709-AC4B-DA640626DE57}"/>
              </a:ext>
            </a:extLst>
          </p:cNvPr>
          <p:cNvSpPr>
            <a:spLocks xmlns:a="http://schemas.openxmlformats.org/drawingml/2006/main" noGrp="1"/>
          </p:cNvSpPr>
          <p:nvPr/>
        </p:nvSpPr>
        <p:spPr>
          <a:xfrm xmlns:a="http://schemas.openxmlformats.org/drawingml/2006/main">
            <a:off x="9296400" y="4857750"/>
            <a:ext cx="1809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2.3%</a:t>
            </a:r>
          </a:p>
        </p:txBody>
      </p:sp>
      <p:sp>
        <p:nvSpPr>
          <p:cNvPr id="33" name="">
            <a:extLst xmlns:a="http://schemas.openxmlformats.org/drawingml/2006/main">
              <a:ext uri="{FF2B5EF4-FFF2-40B4-BE49-F238E27FC236}">
                <a16:creationId xmlns:a16="http://schemas.microsoft.com/office/drawing/2014/main" id="{D2450605-880D-4CB9-AACA-A8CC8F0A0DE4}"/>
              </a:ext>
            </a:extLst>
          </p:cNvPr>
          <p:cNvSpPr>
            <a:spLocks xmlns:a="http://schemas.openxmlformats.org/drawingml/2006/main" noGrp="1"/>
          </p:cNvSpPr>
          <p:nvPr/>
        </p:nvSpPr>
        <p:spPr>
          <a:xfrm xmlns:a="http://schemas.openxmlformats.org/drawingml/2006/main">
            <a:off x="9296400" y="53816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CALIBRATION ERROR</a:t>
            </a:r>
          </a:p>
        </p:txBody>
      </p:sp>
      <p:sp>
        <p:nvSpPr>
          <p:cNvPr id="34" name="">
            <a:extLst xmlns:a="http://schemas.openxmlformats.org/drawingml/2006/main">
              <a:ext uri="{FF2B5EF4-FFF2-40B4-BE49-F238E27FC236}">
                <a16:creationId xmlns:a16="http://schemas.microsoft.com/office/drawing/2014/main" id="{355AF66F-CA44-491A-989B-B37BFE2E959A}"/>
              </a:ext>
            </a:extLst>
          </p:cNvPr>
          <p:cNvSpPr>
            <a:spLocks xmlns:a="http://schemas.openxmlformats.org/drawingml/2006/main" noGrp="1"/>
          </p:cNvSpPr>
          <p:nvPr/>
        </p:nvSpPr>
        <p:spPr>
          <a:xfrm xmlns:a="http://schemas.openxmlformats.org/drawingml/2006/main">
            <a:off x="609600" y="6257925"/>
            <a:ext cx="971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defRPr sz="975" b="0" i="1">
                <a:solidFill>
                  <a:srgbClr val="5F6E66"/>
                </a:solidFill>
                <a:latin typeface="Arial"/>
                <a:ea typeface="Arial"/>
                <a:cs typeface="Arial"/>
              </a:defRPr>
            </a:pPr>
            <a:r>
              <a:rPr sz="975" b="0" i="1">
                <a:solidFill>
                  <a:srgbClr val="5F6E66"/>
                </a:solidFill>
                <a:latin typeface="Arial"/>
                <a:ea typeface="Arial"/>
                <a:cs typeface="Arial"/>
              </a:rPr>
              <a:t>The ML surrogate explains simulator behavior; it never controls dispatch or the recommendation.</a:t>
            </a:r>
          </a:p>
        </p:txBody>
      </p:sp>
    </p:spTree>
    <p:extLst>
      <p:ext uri="{BB962C8B-B14F-4D97-AF65-F5344CB8AC3E}">
        <p14:creationId xmlns:p14="http://schemas.microsoft.com/office/powerpoint/2010/main" val="238637333"/>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BB9CFCD-765C-42BE-B5D5-59FCD61D7AF2}"/>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DECISION PROOF</a:t>
            </a:r>
          </a:p>
        </p:txBody>
      </p:sp>
      <p:sp>
        <p:nvSpPr>
          <p:cNvPr id="2" name="">
            <a:extLst xmlns:a="http://schemas.openxmlformats.org/drawingml/2006/main">
              <a:ext uri="{FF2B5EF4-FFF2-40B4-BE49-F238E27FC236}">
                <a16:creationId xmlns:a16="http://schemas.microsoft.com/office/drawing/2014/main" id="{26E1280B-F795-4BD4-AA56-C491FFC18C09}"/>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91"/>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The smallest policy survives what the optimizer never saw.</a:t>
            </a:r>
          </a:p>
        </p:txBody>
      </p:sp>
      <p:sp>
        <p:nvSpPr>
          <p:cNvPr id="3" name="">
            <a:extLst xmlns:a="http://schemas.openxmlformats.org/drawingml/2006/main">
              <a:ext uri="{FF2B5EF4-FFF2-40B4-BE49-F238E27FC236}">
                <a16:creationId xmlns:a16="http://schemas.microsoft.com/office/drawing/2014/main" id="{399D697A-4058-4C33-B759-AB281EDA49EC}"/>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8C26C48-9836-4AE9-A430-34EE27779F03}"/>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05</a:t>
            </a:r>
          </a:p>
        </p:txBody>
      </p:sp>
      <p:graphicFrame>
        <p:nvGraphicFramePr>
          <p:cNvPr id="27" name="Chart"/>
          <p:cNvGraphicFramePr/>
          <p:nvPr/>
        </p:nvGraphicFramePr>
        <p:xfrm>
          <a:off xmlns:a="http://schemas.openxmlformats.org/drawingml/2006/main" x="609600" y="2133600"/>
          <a:ext xmlns:a="http://schemas.openxmlformats.org/drawingml/2006/main" cx="4572000" cy="3143250"/>
        </p:xfrm>
        <a:graphic xmlns:a="http://schemas.openxmlformats.org/drawingml/2006/main">
          <a:graphicData uri="http://schemas.openxmlformats.org/drawingml/2006/chart">
            <c:chart xmlns:r="http://schemas.openxmlformats.org/officeDocument/2006/relationships" xmlns:c="http://schemas.openxmlformats.org/drawingml/2006/chart" r:id="Rfa227953bd584a45"/>
          </a:graphicData>
        </a:graphic>
      </p:graphicFrame>
      <p:sp>
        <p:nvSpPr>
          <p:cNvPr id="6" name="">
            <a:extLst xmlns:a="http://schemas.openxmlformats.org/drawingml/2006/main">
              <a:ext uri="{FF2B5EF4-FFF2-40B4-BE49-F238E27FC236}">
                <a16:creationId xmlns:a16="http://schemas.microsoft.com/office/drawing/2014/main" id="{71B31C84-BC5B-45B7-92F5-3E9331B0195B}"/>
              </a:ext>
            </a:extLst>
          </p:cNvPr>
          <p:cNvSpPr>
            <a:spLocks xmlns:a="http://schemas.openxmlformats.org/drawingml/2006/main" noGrp="1"/>
          </p:cNvSpPr>
          <p:nvPr/>
        </p:nvSpPr>
        <p:spPr>
          <a:xfrm xmlns:a="http://schemas.openxmlformats.org/drawingml/2006/main">
            <a:off x="1466850" y="52387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5F6E66"/>
                </a:solidFill>
                <a:latin typeface="Arial"/>
                <a:ea typeface="Arial"/>
                <a:cs typeface="Arial"/>
              </a:defRPr>
            </a:pPr>
            <a:r>
              <a:rPr sz="1050" b="1" i="0">
                <a:solidFill>
                  <a:srgbClr val="5F6E66"/>
                </a:solidFill>
                <a:latin typeface="Arial"/>
                <a:ea typeface="Arial"/>
                <a:cs typeface="Arial"/>
              </a:rPr>
              <a:t>same original 500 futures</a:t>
            </a:r>
          </a:p>
        </p:txBody>
      </p:sp>
      <p:sp>
        <p:nvSpPr>
          <p:cNvPr id="7" name="">
            <a:extLst xmlns:a="http://schemas.openxmlformats.org/drawingml/2006/main">
              <a:ext uri="{FF2B5EF4-FFF2-40B4-BE49-F238E27FC236}">
                <a16:creationId xmlns:a16="http://schemas.microsoft.com/office/drawing/2014/main" id="{1CFCFFE8-633D-4ABA-A3DD-92EBE24D83B8}"/>
              </a:ext>
            </a:extLst>
          </p:cNvPr>
          <p:cNvSpPr>
            <a:spLocks xmlns:a="http://schemas.openxmlformats.org/drawingml/2006/main" noGrp="1"/>
          </p:cNvSpPr>
          <p:nvPr/>
        </p:nvSpPr>
        <p:spPr>
          <a:xfrm xmlns:a="http://schemas.openxmlformats.org/drawingml/2006/main">
            <a:off x="5829300" y="2095500"/>
            <a:ext cx="5143500" cy="838200"/>
          </a:xfrm>
          <a:prstGeom xmlns:a="http://schemas.openxmlformats.org/drawingml/2006/main" prst="roundRect">
            <a:avLst>
              <a:gd name="adj" fmla="val 20455"/>
            </a:avLst>
          </a:prstGeom>
          <a:solidFill xmlns:a="http://schemas.openxmlformats.org/drawingml/2006/main">
            <a:srgbClr val="17362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CACCE2-6F08-425A-AE5D-79F0FBC0BE35}"/>
              </a:ext>
            </a:extLst>
          </p:cNvPr>
          <p:cNvSpPr>
            <a:spLocks xmlns:a="http://schemas.openxmlformats.org/drawingml/2006/main" noGrp="1"/>
          </p:cNvSpPr>
          <p:nvPr/>
        </p:nvSpPr>
        <p:spPr>
          <a:xfrm xmlns:a="http://schemas.openxmlformats.org/drawingml/2006/main">
            <a:off x="6057900" y="232410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FFFFFF"/>
                </a:solidFill>
                <a:latin typeface="Arial"/>
                <a:ea typeface="Arial"/>
                <a:cs typeface="Arial"/>
              </a:defRPr>
            </a:pPr>
            <a:r>
              <a:rPr sz="1500" b="1" i="0">
                <a:solidFill>
                  <a:srgbClr val="FFFFFF"/>
                </a:solidFill>
                <a:latin typeface="Arial"/>
                <a:ea typeface="Arial"/>
                <a:cs typeface="Arial"/>
              </a:rPr>
              <a:t>20% reserve, 180m EV delay, pre-cool 11:00</a:t>
            </a:r>
          </a:p>
        </p:txBody>
      </p:sp>
      <p:sp>
        <p:nvSpPr>
          <p:cNvPr id="9" name="">
            <a:extLst xmlns:a="http://schemas.openxmlformats.org/drawingml/2006/main">
              <a:ext uri="{FF2B5EF4-FFF2-40B4-BE49-F238E27FC236}">
                <a16:creationId xmlns:a16="http://schemas.microsoft.com/office/drawing/2014/main" id="{273EED32-B4E6-43E4-97F6-9D449BC78629}"/>
              </a:ext>
            </a:extLst>
          </p:cNvPr>
          <p:cNvSpPr>
            <a:spLocks xmlns:a="http://schemas.openxmlformats.org/drawingml/2006/main" noGrp="1"/>
          </p:cNvSpPr>
          <p:nvPr/>
        </p:nvSpPr>
        <p:spPr>
          <a:xfrm xmlns:a="http://schemas.openxmlformats.org/drawingml/2006/main">
            <a:off x="5981700" y="3286125"/>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245</a:t>
            </a:r>
          </a:p>
        </p:txBody>
      </p:sp>
      <p:sp>
        <p:nvSpPr>
          <p:cNvPr id="10" name="">
            <a:extLst xmlns:a="http://schemas.openxmlformats.org/drawingml/2006/main">
              <a:ext uri="{FF2B5EF4-FFF2-40B4-BE49-F238E27FC236}">
                <a16:creationId xmlns:a16="http://schemas.microsoft.com/office/drawing/2014/main" id="{916C5604-03C5-4656-AFDD-83D67560B1A4}"/>
              </a:ext>
            </a:extLst>
          </p:cNvPr>
          <p:cNvSpPr>
            <a:spLocks xmlns:a="http://schemas.openxmlformats.org/drawingml/2006/main" noGrp="1"/>
          </p:cNvSpPr>
          <p:nvPr/>
        </p:nvSpPr>
        <p:spPr>
          <a:xfrm xmlns:a="http://schemas.openxmlformats.org/drawingml/2006/main">
            <a:off x="5981700" y="381000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242"/>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STRATEGIES SEARCHED</a:t>
            </a:r>
          </a:p>
        </p:txBody>
      </p:sp>
      <p:sp>
        <p:nvSpPr>
          <p:cNvPr id="11" name="">
            <a:extLst xmlns:a="http://schemas.openxmlformats.org/drawingml/2006/main">
              <a:ext uri="{FF2B5EF4-FFF2-40B4-BE49-F238E27FC236}">
                <a16:creationId xmlns:a16="http://schemas.microsoft.com/office/drawing/2014/main" id="{B8E69AD3-904E-4AA1-AB8A-D0C31DB311FE}"/>
              </a:ext>
            </a:extLst>
          </p:cNvPr>
          <p:cNvSpPr>
            <a:spLocks xmlns:a="http://schemas.openxmlformats.org/drawingml/2006/main" noGrp="1"/>
          </p:cNvSpPr>
          <p:nvPr/>
        </p:nvSpPr>
        <p:spPr>
          <a:xfrm xmlns:a="http://schemas.openxmlformats.org/drawingml/2006/main">
            <a:off x="7715250" y="3286125"/>
            <a:ext cx="1190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5</a:t>
            </a:r>
          </a:p>
        </p:txBody>
      </p:sp>
      <p:sp>
        <p:nvSpPr>
          <p:cNvPr id="12" name="">
            <a:extLst xmlns:a="http://schemas.openxmlformats.org/drawingml/2006/main">
              <a:ext uri="{FF2B5EF4-FFF2-40B4-BE49-F238E27FC236}">
                <a16:creationId xmlns:a16="http://schemas.microsoft.com/office/drawing/2014/main" id="{85348700-577E-4B0A-8B70-6E568FFB44FE}"/>
              </a:ext>
            </a:extLst>
          </p:cNvPr>
          <p:cNvSpPr>
            <a:spLocks xmlns:a="http://schemas.openxmlformats.org/drawingml/2006/main" noGrp="1"/>
          </p:cNvSpPr>
          <p:nvPr/>
        </p:nvSpPr>
        <p:spPr>
          <a:xfrm xmlns:a="http://schemas.openxmlformats.org/drawingml/2006/main">
            <a:off x="7715250" y="3810000"/>
            <a:ext cx="1190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HAZARDS</a:t>
            </a:r>
          </a:p>
        </p:txBody>
      </p:sp>
      <p:sp>
        <p:nvSpPr>
          <p:cNvPr id="13" name="">
            <a:extLst xmlns:a="http://schemas.openxmlformats.org/drawingml/2006/main">
              <a:ext uri="{FF2B5EF4-FFF2-40B4-BE49-F238E27FC236}">
                <a16:creationId xmlns:a16="http://schemas.microsoft.com/office/drawing/2014/main" id="{CB3CF6E7-D35F-4F50-9627-49874F901ABE}"/>
              </a:ext>
            </a:extLst>
          </p:cNvPr>
          <p:cNvSpPr>
            <a:spLocks xmlns:a="http://schemas.openxmlformats.org/drawingml/2006/main" noGrp="1"/>
          </p:cNvSpPr>
          <p:nvPr/>
        </p:nvSpPr>
        <p:spPr>
          <a:xfrm xmlns:a="http://schemas.openxmlformats.org/drawingml/2006/main">
            <a:off x="9105900" y="3286125"/>
            <a:ext cx="1571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300</a:t>
            </a:r>
          </a:p>
        </p:txBody>
      </p:sp>
      <p:sp>
        <p:nvSpPr>
          <p:cNvPr id="14" name="">
            <a:extLst xmlns:a="http://schemas.openxmlformats.org/drawingml/2006/main">
              <a:ext uri="{FF2B5EF4-FFF2-40B4-BE49-F238E27FC236}">
                <a16:creationId xmlns:a16="http://schemas.microsoft.com/office/drawing/2014/main" id="{1A081B57-221E-4D4F-9C88-9FF276FB4367}"/>
              </a:ext>
            </a:extLst>
          </p:cNvPr>
          <p:cNvSpPr>
            <a:spLocks xmlns:a="http://schemas.openxmlformats.org/drawingml/2006/main" noGrp="1"/>
          </p:cNvSpPr>
          <p:nvPr/>
        </p:nvSpPr>
        <p:spPr>
          <a:xfrm xmlns:a="http://schemas.openxmlformats.org/drawingml/2006/main">
            <a:off x="9105900" y="381000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SEARCH FUTURES</a:t>
            </a:r>
          </a:p>
        </p:txBody>
      </p:sp>
      <p:sp>
        <p:nvSpPr>
          <p:cNvPr id="15" name="">
            <a:extLst xmlns:a="http://schemas.openxmlformats.org/drawingml/2006/main">
              <a:ext uri="{FF2B5EF4-FFF2-40B4-BE49-F238E27FC236}">
                <a16:creationId xmlns:a16="http://schemas.microsoft.com/office/drawing/2014/main" id="{D9D6FC08-616C-494D-912F-A5C1CEB08500}"/>
              </a:ext>
            </a:extLst>
          </p:cNvPr>
          <p:cNvSpPr>
            <a:spLocks xmlns:a="http://schemas.openxmlformats.org/drawingml/2006/main" noGrp="1"/>
          </p:cNvSpPr>
          <p:nvPr/>
        </p:nvSpPr>
        <p:spPr>
          <a:xfrm xmlns:a="http://schemas.openxmlformats.org/drawingml/2006/main">
            <a:off x="5829300" y="4286250"/>
            <a:ext cx="51435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3336137-52E6-4128-A7BB-5D7299C69171}"/>
              </a:ext>
            </a:extLst>
          </p:cNvPr>
          <p:cNvSpPr>
            <a:spLocks xmlns:a="http://schemas.openxmlformats.org/drawingml/2006/main" noGrp="1"/>
          </p:cNvSpPr>
          <p:nvPr/>
        </p:nvSpPr>
        <p:spPr>
          <a:xfrm xmlns:a="http://schemas.openxmlformats.org/drawingml/2006/main">
            <a:off x="5981700" y="457200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3/3</a:t>
            </a:r>
          </a:p>
        </p:txBody>
      </p:sp>
      <p:sp>
        <p:nvSpPr>
          <p:cNvPr id="17" name="">
            <a:extLst xmlns:a="http://schemas.openxmlformats.org/drawingml/2006/main">
              <a:ext uri="{FF2B5EF4-FFF2-40B4-BE49-F238E27FC236}">
                <a16:creationId xmlns:a16="http://schemas.microsoft.com/office/drawing/2014/main" id="{C436B829-609B-4841-BB23-E8F69F94B612}"/>
              </a:ext>
            </a:extLst>
          </p:cNvPr>
          <p:cNvSpPr>
            <a:spLocks xmlns:a="http://schemas.openxmlformats.org/drawingml/2006/main" noGrp="1"/>
          </p:cNvSpPr>
          <p:nvPr/>
        </p:nvSpPr>
        <p:spPr>
          <a:xfrm xmlns:a="http://schemas.openxmlformats.org/drawingml/2006/main">
            <a:off x="5981700" y="509587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DISJOINT HOLDOUTS</a:t>
            </a:r>
          </a:p>
        </p:txBody>
      </p:sp>
      <p:sp>
        <p:nvSpPr>
          <p:cNvPr id="18" name="">
            <a:extLst xmlns:a="http://schemas.openxmlformats.org/drawingml/2006/main">
              <a:ext uri="{FF2B5EF4-FFF2-40B4-BE49-F238E27FC236}">
                <a16:creationId xmlns:a16="http://schemas.microsoft.com/office/drawing/2014/main" id="{A4180CF9-890C-45AF-B65C-A33AE4E808F2}"/>
              </a:ext>
            </a:extLst>
          </p:cNvPr>
          <p:cNvSpPr>
            <a:spLocks xmlns:a="http://schemas.openxmlformats.org/drawingml/2006/main" noGrp="1"/>
          </p:cNvSpPr>
          <p:nvPr/>
        </p:nvSpPr>
        <p:spPr>
          <a:xfrm xmlns:a="http://schemas.openxmlformats.org/drawingml/2006/main">
            <a:off x="7715250" y="457200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835C3B"/>
                </a:solidFill>
                <a:latin typeface="Arial"/>
                <a:ea typeface="Arial"/>
                <a:cs typeface="Arial"/>
              </a:defRPr>
            </a:pPr>
            <a:r>
              <a:rPr sz="2850" b="1" i="0">
                <a:solidFill>
                  <a:srgbClr val="835C3B"/>
                </a:solidFill>
                <a:latin typeface="Arial"/>
                <a:ea typeface="Arial"/>
                <a:cs typeface="Arial"/>
              </a:rPr>
              <a:t>4/4</a:t>
            </a:r>
          </a:p>
        </p:txBody>
      </p:sp>
      <p:sp>
        <p:nvSpPr>
          <p:cNvPr id="19" name="">
            <a:extLst xmlns:a="http://schemas.openxmlformats.org/drawingml/2006/main">
              <a:ext uri="{FF2B5EF4-FFF2-40B4-BE49-F238E27FC236}">
                <a16:creationId xmlns:a16="http://schemas.microsoft.com/office/drawing/2014/main" id="{75181EFA-A524-46BF-B217-5CDEAC1D1969}"/>
              </a:ext>
            </a:extLst>
          </p:cNvPr>
          <p:cNvSpPr>
            <a:spLocks xmlns:a="http://schemas.openxmlformats.org/drawingml/2006/main" noGrp="1"/>
          </p:cNvSpPr>
          <p:nvPr/>
        </p:nvSpPr>
        <p:spPr>
          <a:xfrm xmlns:a="http://schemas.openxmlformats.org/drawingml/2006/main">
            <a:off x="7715250" y="509587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42"/>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ASSUMPTION SHOCKS</a:t>
            </a:r>
          </a:p>
        </p:txBody>
      </p:sp>
      <p:sp>
        <p:nvSpPr>
          <p:cNvPr id="20" name="">
            <a:extLst xmlns:a="http://schemas.openxmlformats.org/drawingml/2006/main">
              <a:ext uri="{FF2B5EF4-FFF2-40B4-BE49-F238E27FC236}">
                <a16:creationId xmlns:a16="http://schemas.microsoft.com/office/drawing/2014/main" id="{6312C9D9-DF5F-4BB3-B03A-3BFCB1EA0BE1}"/>
              </a:ext>
            </a:extLst>
          </p:cNvPr>
          <p:cNvSpPr>
            <a:spLocks xmlns:a="http://schemas.openxmlformats.org/drawingml/2006/main" noGrp="1"/>
          </p:cNvSpPr>
          <p:nvPr/>
        </p:nvSpPr>
        <p:spPr>
          <a:xfrm xmlns:a="http://schemas.openxmlformats.org/drawingml/2006/main">
            <a:off x="9448800" y="4572000"/>
            <a:ext cx="142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defRPr sz="2850" b="1" i="0">
                <a:solidFill>
                  <a:srgbClr val="2F6B4F"/>
                </a:solidFill>
                <a:latin typeface="Arial"/>
                <a:ea typeface="Arial"/>
                <a:cs typeface="Arial"/>
              </a:defRPr>
            </a:pPr>
            <a:r>
              <a:rPr sz="2850" b="1" i="0">
                <a:solidFill>
                  <a:srgbClr val="2F6B4F"/>
                </a:solidFill>
                <a:latin typeface="Arial"/>
                <a:ea typeface="Arial"/>
                <a:cs typeface="Arial"/>
              </a:rPr>
              <a:t>7 to 0</a:t>
            </a:r>
          </a:p>
        </p:txBody>
      </p:sp>
      <p:sp>
        <p:nvSpPr>
          <p:cNvPr id="21" name="">
            <a:extLst xmlns:a="http://schemas.openxmlformats.org/drawingml/2006/main">
              <a:ext uri="{FF2B5EF4-FFF2-40B4-BE49-F238E27FC236}">
                <a16:creationId xmlns:a16="http://schemas.microsoft.com/office/drawing/2014/main" id="{8100C6B5-17D1-4259-A34D-15114A61A8D8}"/>
              </a:ext>
            </a:extLst>
          </p:cNvPr>
          <p:cNvSpPr>
            <a:spLocks xmlns:a="http://schemas.openxmlformats.org/drawingml/2006/main" noGrp="1"/>
          </p:cNvSpPr>
          <p:nvPr/>
        </p:nvSpPr>
        <p:spPr>
          <a:xfrm xmlns:a="http://schemas.openxmlformats.org/drawingml/2006/main">
            <a:off x="9448800" y="5095875"/>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981"/>
          </a:bodyPr>
          <a:lstStyle xmlns:a="http://schemas.openxmlformats.org/drawingml/2006/main"/>
          <a:p xmlns:a="http://schemas.openxmlformats.org/drawingml/2006/main">
            <a:pPr>
              <a:defRPr sz="975" b="1" i="0">
                <a:solidFill>
                  <a:srgbClr val="5F6E66"/>
                </a:solidFill>
                <a:latin typeface="Arial"/>
                <a:ea typeface="Arial"/>
                <a:cs typeface="Arial"/>
              </a:defRPr>
            </a:pPr>
            <a:r>
              <a:rPr sz="975" b="1" i="0">
                <a:solidFill>
                  <a:srgbClr val="5F6E66"/>
                </a:solidFill>
                <a:latin typeface="Arial"/>
                <a:ea typeface="Arial"/>
                <a:cs typeface="Arial"/>
              </a:rPr>
              <a:t>HOLDOUT FAILURES</a:t>
            </a:r>
          </a:p>
        </p:txBody>
      </p:sp>
      <p:sp>
        <p:nvSpPr>
          <p:cNvPr id="22" name="">
            <a:extLst xmlns:a="http://schemas.openxmlformats.org/drawingml/2006/main">
              <a:ext uri="{FF2B5EF4-FFF2-40B4-BE49-F238E27FC236}">
                <a16:creationId xmlns:a16="http://schemas.microsoft.com/office/drawing/2014/main" id="{9DEBA3BB-3A0D-41BC-AD84-AE351E8329F8}"/>
              </a:ext>
            </a:extLst>
          </p:cNvPr>
          <p:cNvSpPr>
            <a:spLocks xmlns:a="http://schemas.openxmlformats.org/drawingml/2006/main" noGrp="1"/>
          </p:cNvSpPr>
          <p:nvPr/>
        </p:nvSpPr>
        <p:spPr>
          <a:xfrm xmlns:a="http://schemas.openxmlformats.org/drawingml/2006/main">
            <a:off x="5829300" y="5810250"/>
            <a:ext cx="514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5F6E66"/>
                </a:solidFill>
                <a:latin typeface="Arial"/>
                <a:ea typeface="Arial"/>
                <a:cs typeface="Arial"/>
              </a:defRPr>
            </a:pPr>
            <a:r>
              <a:rPr sz="1125" b="1" i="0">
                <a:solidFill>
                  <a:srgbClr val="5F6E66"/>
                </a:solidFill>
                <a:latin typeface="Arial"/>
                <a:ea typeface="Arial"/>
                <a:cs typeface="Arial"/>
              </a:rPr>
              <a:t>0 introduced regressions, 11/12 observed climate stress periods passed</a:t>
            </a:r>
          </a:p>
        </p:txBody>
      </p:sp>
    </p:spTree>
    <p:extLst>
      <p:ext uri="{BB962C8B-B14F-4D97-AF65-F5344CB8AC3E}">
        <p14:creationId xmlns:p14="http://schemas.microsoft.com/office/powerpoint/2010/main" val="16620702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B97467C-0797-4DCC-9200-D69051ED6BB6}"/>
              </a:ext>
            </a:extLst>
          </p:cNvPr>
          <p:cNvSpPr>
            <a:spLocks xmlns:a="http://schemas.openxmlformats.org/drawingml/2006/main" noGrp="1"/>
          </p:cNvSpPr>
          <p:nvPr/>
        </p:nvSpPr>
        <p:spPr>
          <a:xfrm xmlns:a="http://schemas.openxmlformats.org/drawingml/2006/main">
            <a:off x="609600" y="381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2F6B4F"/>
                </a:solidFill>
                <a:latin typeface="Arial"/>
                <a:ea typeface="Arial"/>
                <a:cs typeface="Arial"/>
              </a:defRPr>
            </a:pPr>
            <a:r>
              <a:rPr sz="1050" b="1" i="0">
                <a:solidFill>
                  <a:srgbClr val="2F6B4F"/>
                </a:solidFill>
                <a:latin typeface="Arial"/>
                <a:ea typeface="Arial"/>
                <a:cs typeface="Arial"/>
              </a:rPr>
              <a:t>REAL-WORLD PATHWAY</a:t>
            </a:r>
          </a:p>
        </p:txBody>
      </p:sp>
      <p:sp>
        <p:nvSpPr>
          <p:cNvPr id="2" name="">
            <a:extLst xmlns:a="http://schemas.openxmlformats.org/drawingml/2006/main">
              <a:ext uri="{FF2B5EF4-FFF2-40B4-BE49-F238E27FC236}">
                <a16:creationId xmlns:a16="http://schemas.microsoft.com/office/drawing/2014/main" id="{E5E324BA-BE61-4E5F-AEE2-0E931460B4E9}"/>
              </a:ext>
            </a:extLst>
          </p:cNvPr>
          <p:cNvSpPr>
            <a:spLocks xmlns:a="http://schemas.openxmlformats.org/drawingml/2006/main" noGrp="1"/>
          </p:cNvSpPr>
          <p:nvPr/>
        </p:nvSpPr>
        <p:spPr>
          <a:xfrm xmlns:a="http://schemas.openxmlformats.org/drawingml/2006/main">
            <a:off x="609600" y="72390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000" b="1" i="0">
                <a:solidFill>
                  <a:srgbClr val="17362C"/>
                </a:solidFill>
                <a:latin typeface="Arial"/>
                <a:ea typeface="Arial"/>
                <a:cs typeface="Arial"/>
              </a:defRPr>
            </a:pPr>
            <a:r>
              <a:rPr sz="3000" b="1" i="0">
                <a:solidFill>
                  <a:srgbClr val="17362C"/>
                </a:solidFill>
                <a:latin typeface="Arial"/>
                <a:ea typeface="Arial"/>
                <a:cs typeface="Arial"/>
              </a:rPr>
              <a:t>Credibility grows step by step.</a:t>
            </a:r>
          </a:p>
        </p:txBody>
      </p:sp>
      <p:sp>
        <p:nvSpPr>
          <p:cNvPr id="3" name="">
            <a:extLst xmlns:a="http://schemas.openxmlformats.org/drawingml/2006/main">
              <a:ext uri="{FF2B5EF4-FFF2-40B4-BE49-F238E27FC236}">
                <a16:creationId xmlns:a16="http://schemas.microsoft.com/office/drawing/2014/main" id="{3F9ABE8E-7955-4216-BDBC-8D00AC21CBD5}"/>
              </a:ext>
            </a:extLst>
          </p:cNvPr>
          <p:cNvSpPr>
            <a:spLocks xmlns:a="http://schemas.openxmlformats.org/drawingml/2006/main" noGrp="1"/>
          </p:cNvSpPr>
          <p:nvPr/>
        </p:nvSpPr>
        <p:spPr>
          <a:xfrm xmlns:a="http://schemas.openxmlformats.org/drawingml/2006/main">
            <a:off x="609600" y="1695450"/>
            <a:ext cx="10972800" cy="19050"/>
          </a:xfrm>
          <a:prstGeom xmlns:a="http://schemas.openxmlformats.org/drawingml/2006/main" prst="rect">
            <a:avLst/>
          </a:prstGeom>
          <a:solidFill xmlns:a="http://schemas.openxmlformats.org/drawingml/2006/main">
            <a:srgbClr val="D8DED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3D6721-3CF7-4DE0-B96E-7C07CD67FA0B}"/>
              </a:ext>
            </a:extLst>
          </p:cNvPr>
          <p:cNvSpPr>
            <a:spLocks xmlns:a="http://schemas.openxmlformats.org/drawingml/2006/main" noGrp="1"/>
          </p:cNvSpPr>
          <p:nvPr/>
        </p:nvSpPr>
        <p:spPr>
          <a:xfrm xmlns:a="http://schemas.openxmlformats.org/drawingml/2006/main">
            <a:off x="11096625" y="4191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defRPr sz="1050" b="1" i="0">
                <a:solidFill>
                  <a:srgbClr val="835C3B"/>
                </a:solidFill>
                <a:latin typeface="Arial"/>
                <a:ea typeface="Arial"/>
                <a:cs typeface="Arial"/>
              </a:defRPr>
            </a:pPr>
            <a:r>
              <a:rPr sz="1050" b="1" i="0">
                <a:solidFill>
                  <a:srgbClr val="835C3B"/>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3FB22F83-CAFB-44BE-A2C9-DAE99283B519}"/>
              </a:ext>
            </a:extLst>
          </p:cNvPr>
          <p:cNvSpPr>
            <a:spLocks xmlns:a="http://schemas.openxmlformats.org/drawingml/2006/main" noGrp="1"/>
          </p:cNvSpPr>
          <p:nvPr/>
        </p:nvSpPr>
        <p:spPr>
          <a:xfrm xmlns:a="http://schemas.openxmlformats.org/drawingml/2006/main">
            <a:off x="609600" y="2266950"/>
            <a:ext cx="1952625" cy="2419350"/>
          </a:xfrm>
          <a:prstGeom xmlns:a="http://schemas.openxmlformats.org/drawingml/2006/main" prst="roundRect">
            <a:avLst>
              <a:gd name="adj" fmla="val 9756"/>
            </a:avLst>
          </a:prstGeom>
          <a:solidFill xmlns:a="http://schemas.openxmlformats.org/drawingml/2006/main">
            <a:srgbClr val="2F6B4F"/>
          </a:solidFill>
          <a:ln xmlns:a="http://schemas.openxmlformats.org/drawingml/2006/main" w="9525">
            <a:solidFill>
              <a:srgbClr val="D8DED7"/>
            </a:solidFill>
          </a:ln>
        </p:spPr>
      </p:sp>
      <p:sp>
        <p:nvSpPr>
          <p:cNvPr id="6" name="">
            <a:extLst xmlns:a="http://schemas.openxmlformats.org/drawingml/2006/main">
              <a:ext uri="{FF2B5EF4-FFF2-40B4-BE49-F238E27FC236}">
                <a16:creationId xmlns:a16="http://schemas.microsoft.com/office/drawing/2014/main" id="{A47AE980-5D5E-4BE2-A4AC-786C325FB4E1}"/>
              </a:ext>
            </a:extLst>
          </p:cNvPr>
          <p:cNvSpPr>
            <a:spLocks xmlns:a="http://schemas.openxmlformats.org/drawingml/2006/main" noGrp="1"/>
          </p:cNvSpPr>
          <p:nvPr/>
        </p:nvSpPr>
        <p:spPr>
          <a:xfrm xmlns:a="http://schemas.openxmlformats.org/drawingml/2006/main">
            <a:off x="80010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DCE8C9"/>
                </a:solidFill>
                <a:latin typeface="Arial"/>
                <a:ea typeface="Arial"/>
                <a:cs typeface="Arial"/>
              </a:defRPr>
            </a:pPr>
            <a:r>
              <a:rPr sz="1200" b="1" i="0">
                <a:solidFill>
                  <a:srgbClr val="DCE8C9"/>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D3BA6C9-DA9D-4FD4-A9D8-85D2483326BB}"/>
              </a:ext>
            </a:extLst>
          </p:cNvPr>
          <p:cNvSpPr>
            <a:spLocks xmlns:a="http://schemas.openxmlformats.org/drawingml/2006/main" noGrp="1"/>
          </p:cNvSpPr>
          <p:nvPr/>
        </p:nvSpPr>
        <p:spPr>
          <a:xfrm xmlns:a="http://schemas.openxmlformats.org/drawingml/2006/main">
            <a:off x="80010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defRPr sz="1350" b="1" i="0">
                <a:solidFill>
                  <a:srgbClr val="FFFFFF"/>
                </a:solidFill>
                <a:latin typeface="Arial"/>
                <a:ea typeface="Arial"/>
                <a:cs typeface="Arial"/>
              </a:defRPr>
            </a:pPr>
            <a:r>
              <a:rPr sz="1350" b="1" i="0">
                <a:solidFill>
                  <a:srgbClr val="FFFFFF"/>
                </a:solidFill>
                <a:latin typeface="Arial"/>
                <a:ea typeface="Arial"/>
                <a:cs typeface="Arial"/>
              </a:rPr>
              <a:t>PUBLISHED EVIDENCE</a:t>
            </a:r>
          </a:p>
        </p:txBody>
      </p:sp>
      <p:sp>
        <p:nvSpPr>
          <p:cNvPr id="8" name="">
            <a:extLst xmlns:a="http://schemas.openxmlformats.org/drawingml/2006/main">
              <a:ext uri="{FF2B5EF4-FFF2-40B4-BE49-F238E27FC236}">
                <a16:creationId xmlns:a16="http://schemas.microsoft.com/office/drawing/2014/main" id="{31D8A36D-D3A7-42AC-A815-EF6AB4EDF432}"/>
              </a:ext>
            </a:extLst>
          </p:cNvPr>
          <p:cNvSpPr>
            <a:spLocks xmlns:a="http://schemas.openxmlformats.org/drawingml/2006/main" noGrp="1"/>
          </p:cNvSpPr>
          <p:nvPr/>
        </p:nvSpPr>
        <p:spPr>
          <a:xfrm xmlns:a="http://schemas.openxmlformats.org/drawingml/2006/main">
            <a:off x="80010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284"/>
          </a:bodyPr>
          <a:lstStyle xmlns:a="http://schemas.openxmlformats.org/drawingml/2006/main"/>
          <a:p xmlns:a="http://schemas.openxmlformats.org/drawingml/2006/main">
            <a:pPr>
              <a:defRPr sz="1200" b="0" i="0">
                <a:solidFill>
                  <a:srgbClr val="FFFFFF"/>
                </a:solidFill>
                <a:latin typeface="Arial"/>
                <a:ea typeface="Arial"/>
                <a:cs typeface="Arial"/>
              </a:defRPr>
            </a:pPr>
            <a:r>
              <a:rPr sz="1200" b="0" i="0">
                <a:solidFill>
                  <a:srgbClr val="FFFFFF"/>
                </a:solidFill>
                <a:latin typeface="Arial"/>
                <a:ea typeface="Arial"/>
                <a:cs typeface="Arial"/>
              </a:rPr>
              <a:t>Named Jaipur facility + field-assessed solar case</a:t>
            </a:r>
          </a:p>
        </p:txBody>
      </p:sp>
      <p:sp>
        <p:nvSpPr>
          <p:cNvPr id="9" name="">
            <a:extLst xmlns:a="http://schemas.openxmlformats.org/drawingml/2006/main">
              <a:ext uri="{FF2B5EF4-FFF2-40B4-BE49-F238E27FC236}">
                <a16:creationId xmlns:a16="http://schemas.microsoft.com/office/drawing/2014/main" id="{24BCB43F-DA8A-422C-81BE-DFFD53B01CF0}"/>
              </a:ext>
            </a:extLst>
          </p:cNvPr>
          <p:cNvSpPr>
            <a:spLocks xmlns:a="http://schemas.openxmlformats.org/drawingml/2006/main" noGrp="1"/>
          </p:cNvSpPr>
          <p:nvPr/>
        </p:nvSpPr>
        <p:spPr>
          <a:xfrm xmlns:a="http://schemas.openxmlformats.org/drawingml/2006/main">
            <a:off x="2647950" y="3257550"/>
            <a:ext cx="171450" cy="19050"/>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AB392F2-87B7-45DA-B8A0-2D4420E6A761}"/>
              </a:ext>
            </a:extLst>
          </p:cNvPr>
          <p:cNvSpPr>
            <a:spLocks xmlns:a="http://schemas.openxmlformats.org/drawingml/2006/main" noGrp="1"/>
          </p:cNvSpPr>
          <p:nvPr/>
        </p:nvSpPr>
        <p:spPr>
          <a:xfrm xmlns:a="http://schemas.openxmlformats.org/drawingml/2006/main">
            <a:off x="2800350" y="2266950"/>
            <a:ext cx="1952625" cy="2419350"/>
          </a:xfrm>
          <a:prstGeom xmlns:a="http://schemas.openxmlformats.org/drawingml/2006/main" prst="roundRect">
            <a:avLst>
              <a:gd name="adj" fmla="val 9756"/>
            </a:avLst>
          </a:prstGeom>
          <a:solidFill xmlns:a="http://schemas.openxmlformats.org/drawingml/2006/main">
            <a:srgbClr val="E8DDCE"/>
          </a:solidFill>
          <a:ln xmlns:a="http://schemas.openxmlformats.org/drawingml/2006/main" w="9525">
            <a:solidFill>
              <a:srgbClr val="835C3B"/>
            </a:solidFill>
          </a:ln>
        </p:spPr>
      </p:sp>
      <p:sp>
        <p:nvSpPr>
          <p:cNvPr id="11" name="">
            <a:extLst xmlns:a="http://schemas.openxmlformats.org/drawingml/2006/main">
              <a:ext uri="{FF2B5EF4-FFF2-40B4-BE49-F238E27FC236}">
                <a16:creationId xmlns:a16="http://schemas.microsoft.com/office/drawing/2014/main" id="{142346FD-1AD9-4D59-BC89-1A1DB57DAC11}"/>
              </a:ext>
            </a:extLst>
          </p:cNvPr>
          <p:cNvSpPr>
            <a:spLocks xmlns:a="http://schemas.openxmlformats.org/drawingml/2006/main" noGrp="1"/>
          </p:cNvSpPr>
          <p:nvPr/>
        </p:nvSpPr>
        <p:spPr>
          <a:xfrm xmlns:a="http://schemas.openxmlformats.org/drawingml/2006/main">
            <a:off x="299085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A05AB46A-CB80-45E2-A19C-01280BA591C0}"/>
              </a:ext>
            </a:extLst>
          </p:cNvPr>
          <p:cNvSpPr>
            <a:spLocks xmlns:a="http://schemas.openxmlformats.org/drawingml/2006/main" noGrp="1"/>
          </p:cNvSpPr>
          <p:nvPr/>
        </p:nvSpPr>
        <p:spPr>
          <a:xfrm xmlns:a="http://schemas.openxmlformats.org/drawingml/2006/main">
            <a:off x="299085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OUTREACH READY</a:t>
            </a:r>
          </a:p>
        </p:txBody>
      </p:sp>
      <p:sp>
        <p:nvSpPr>
          <p:cNvPr id="13" name="">
            <a:extLst xmlns:a="http://schemas.openxmlformats.org/drawingml/2006/main">
              <a:ext uri="{FF2B5EF4-FFF2-40B4-BE49-F238E27FC236}">
                <a16:creationId xmlns:a16="http://schemas.microsoft.com/office/drawing/2014/main" id="{D4025321-73F2-457B-B0CF-659B673BC9D5}"/>
              </a:ext>
            </a:extLst>
          </p:cNvPr>
          <p:cNvSpPr>
            <a:spLocks xmlns:a="http://schemas.openxmlformats.org/drawingml/2006/main" noGrp="1"/>
          </p:cNvSpPr>
          <p:nvPr/>
        </p:nvSpPr>
        <p:spPr>
          <a:xfrm xmlns:a="http://schemas.openxmlformats.org/drawingml/2006/main">
            <a:off x="299085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i="0">
                <a:solidFill>
                  <a:srgbClr val="5F6E66"/>
                </a:solidFill>
                <a:latin typeface="Arial"/>
                <a:ea typeface="Arial"/>
                <a:cs typeface="Arial"/>
              </a:defRPr>
            </a:pPr>
            <a:r>
              <a:rPr sz="1200" b="0" i="0">
                <a:solidFill>
                  <a:srgbClr val="5F6E66"/>
                </a:solidFill>
                <a:latin typeface="Arial"/>
                <a:ea typeface="Arial"/>
                <a:cs typeface="Arial"/>
              </a:rPr>
              <a:t>Minimum data contract + reviewer packet prepared</a:t>
            </a:r>
          </a:p>
        </p:txBody>
      </p:sp>
      <p:sp>
        <p:nvSpPr>
          <p:cNvPr id="14" name="">
            <a:extLst xmlns:a="http://schemas.openxmlformats.org/drawingml/2006/main">
              <a:ext uri="{FF2B5EF4-FFF2-40B4-BE49-F238E27FC236}">
                <a16:creationId xmlns:a16="http://schemas.microsoft.com/office/drawing/2014/main" id="{03C6AABD-C596-4AAB-8D90-BD4DD186923A}"/>
              </a:ext>
            </a:extLst>
          </p:cNvPr>
          <p:cNvSpPr>
            <a:spLocks xmlns:a="http://schemas.openxmlformats.org/drawingml/2006/main" noGrp="1"/>
          </p:cNvSpPr>
          <p:nvPr/>
        </p:nvSpPr>
        <p:spPr>
          <a:xfrm xmlns:a="http://schemas.openxmlformats.org/drawingml/2006/main">
            <a:off x="4838700" y="3257550"/>
            <a:ext cx="171450" cy="19050"/>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A459EBD-9264-4B61-A937-355A3648812D}"/>
              </a:ext>
            </a:extLst>
          </p:cNvPr>
          <p:cNvSpPr>
            <a:spLocks xmlns:a="http://schemas.openxmlformats.org/drawingml/2006/main" noGrp="1"/>
          </p:cNvSpPr>
          <p:nvPr/>
        </p:nvSpPr>
        <p:spPr>
          <a:xfrm xmlns:a="http://schemas.openxmlformats.org/drawingml/2006/main">
            <a:off x="4991100" y="2266950"/>
            <a:ext cx="1952625" cy="2419350"/>
          </a:xfrm>
          <a:prstGeom xmlns:a="http://schemas.openxmlformats.org/drawingml/2006/main" prst="roundRect">
            <a:avLst>
              <a:gd name="adj" fmla="val 9756"/>
            </a:avLst>
          </a:prstGeom>
          <a:solidFill xmlns:a="http://schemas.openxmlformats.org/drawingml/2006/main">
            <a:srgbClr val="F7F5EF"/>
          </a:solidFill>
          <a:ln xmlns:a="http://schemas.openxmlformats.org/drawingml/2006/main" w="9525">
            <a:solidFill>
              <a:srgbClr val="D8DED7"/>
            </a:solidFill>
          </a:ln>
        </p:spPr>
      </p:sp>
      <p:sp>
        <p:nvSpPr>
          <p:cNvPr id="16" name="">
            <a:extLst xmlns:a="http://schemas.openxmlformats.org/drawingml/2006/main">
              <a:ext uri="{FF2B5EF4-FFF2-40B4-BE49-F238E27FC236}">
                <a16:creationId xmlns:a16="http://schemas.microsoft.com/office/drawing/2014/main" id="{AB9CE2DD-4176-416B-82F8-78A4484E72E4}"/>
              </a:ext>
            </a:extLst>
          </p:cNvPr>
          <p:cNvSpPr>
            <a:spLocks xmlns:a="http://schemas.openxmlformats.org/drawingml/2006/main" noGrp="1"/>
          </p:cNvSpPr>
          <p:nvPr/>
        </p:nvSpPr>
        <p:spPr>
          <a:xfrm xmlns:a="http://schemas.openxmlformats.org/drawingml/2006/main">
            <a:off x="518160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3DDEFB75-A25F-42A0-8B30-6528DFCB396C}"/>
              </a:ext>
            </a:extLst>
          </p:cNvPr>
          <p:cNvSpPr>
            <a:spLocks xmlns:a="http://schemas.openxmlformats.org/drawingml/2006/main" noGrp="1"/>
          </p:cNvSpPr>
          <p:nvPr/>
        </p:nvSpPr>
        <p:spPr>
          <a:xfrm xmlns:a="http://schemas.openxmlformats.org/drawingml/2006/main">
            <a:off x="518160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REPLY</a:t>
            </a:r>
          </a:p>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RECEIVED</a:t>
            </a:r>
          </a:p>
        </p:txBody>
      </p:sp>
      <p:sp>
        <p:nvSpPr>
          <p:cNvPr id="18" name="">
            <a:extLst xmlns:a="http://schemas.openxmlformats.org/drawingml/2006/main">
              <a:ext uri="{FF2B5EF4-FFF2-40B4-BE49-F238E27FC236}">
                <a16:creationId xmlns:a16="http://schemas.microsoft.com/office/drawing/2014/main" id="{5F2A044F-9C72-4631-AD03-277B8911A9EA}"/>
              </a:ext>
            </a:extLst>
          </p:cNvPr>
          <p:cNvSpPr>
            <a:spLocks xmlns:a="http://schemas.openxmlformats.org/drawingml/2006/main" noGrp="1"/>
          </p:cNvSpPr>
          <p:nvPr/>
        </p:nvSpPr>
        <p:spPr>
          <a:xfrm xmlns:a="http://schemas.openxmlformats.org/drawingml/2006/main">
            <a:off x="518160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i="0">
                <a:solidFill>
                  <a:srgbClr val="5F6E66"/>
                </a:solidFill>
                <a:latin typeface="Arial"/>
                <a:ea typeface="Arial"/>
                <a:cs typeface="Arial"/>
              </a:defRPr>
            </a:pPr>
            <a:r>
              <a:rPr sz="1200" b="0" i="0">
                <a:solidFill>
                  <a:srgbClr val="5F6E66"/>
                </a:solidFill>
                <a:latin typeface="Arial"/>
                <a:ea typeface="Arial"/>
                <a:cs typeface="Arial"/>
              </a:rPr>
              <a:t>Named hospital / foundation reviewer replies</a:t>
            </a:r>
          </a:p>
        </p:txBody>
      </p:sp>
      <p:sp>
        <p:nvSpPr>
          <p:cNvPr id="19" name="">
            <a:extLst xmlns:a="http://schemas.openxmlformats.org/drawingml/2006/main">
              <a:ext uri="{FF2B5EF4-FFF2-40B4-BE49-F238E27FC236}">
                <a16:creationId xmlns:a16="http://schemas.microsoft.com/office/drawing/2014/main" id="{5FA95B7B-1B9B-460B-BEBF-B7FA9B52AC0C}"/>
              </a:ext>
            </a:extLst>
          </p:cNvPr>
          <p:cNvSpPr>
            <a:spLocks xmlns:a="http://schemas.openxmlformats.org/drawingml/2006/main" noGrp="1"/>
          </p:cNvSpPr>
          <p:nvPr/>
        </p:nvSpPr>
        <p:spPr>
          <a:xfrm xmlns:a="http://schemas.openxmlformats.org/drawingml/2006/main">
            <a:off x="7029450" y="3257550"/>
            <a:ext cx="171450" cy="19050"/>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F096688-E25D-4447-93A3-FEAD6F8E716E}"/>
              </a:ext>
            </a:extLst>
          </p:cNvPr>
          <p:cNvSpPr>
            <a:spLocks xmlns:a="http://schemas.openxmlformats.org/drawingml/2006/main" noGrp="1"/>
          </p:cNvSpPr>
          <p:nvPr/>
        </p:nvSpPr>
        <p:spPr>
          <a:xfrm xmlns:a="http://schemas.openxmlformats.org/drawingml/2006/main">
            <a:off x="7181850" y="2266950"/>
            <a:ext cx="1952625" cy="2419350"/>
          </a:xfrm>
          <a:prstGeom xmlns:a="http://schemas.openxmlformats.org/drawingml/2006/main" prst="roundRect">
            <a:avLst>
              <a:gd name="adj" fmla="val 9756"/>
            </a:avLst>
          </a:prstGeom>
          <a:solidFill xmlns:a="http://schemas.openxmlformats.org/drawingml/2006/main">
            <a:srgbClr val="F7F5EF"/>
          </a:solidFill>
          <a:ln xmlns:a="http://schemas.openxmlformats.org/drawingml/2006/main" w="9525">
            <a:solidFill>
              <a:srgbClr val="D8DED7"/>
            </a:solidFill>
          </a:ln>
        </p:spPr>
      </p:sp>
      <p:sp>
        <p:nvSpPr>
          <p:cNvPr id="21" name="">
            <a:extLst xmlns:a="http://schemas.openxmlformats.org/drawingml/2006/main">
              <a:ext uri="{FF2B5EF4-FFF2-40B4-BE49-F238E27FC236}">
                <a16:creationId xmlns:a16="http://schemas.microsoft.com/office/drawing/2014/main" id="{06C7D0CE-631B-4AE3-9266-F28A135C4D55}"/>
              </a:ext>
            </a:extLst>
          </p:cNvPr>
          <p:cNvSpPr>
            <a:spLocks xmlns:a="http://schemas.openxmlformats.org/drawingml/2006/main" noGrp="1"/>
          </p:cNvSpPr>
          <p:nvPr/>
        </p:nvSpPr>
        <p:spPr>
          <a:xfrm xmlns:a="http://schemas.openxmlformats.org/drawingml/2006/main">
            <a:off x="737235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5E27DBFC-7280-4167-9AE3-AAB87C0B7789}"/>
              </a:ext>
            </a:extLst>
          </p:cNvPr>
          <p:cNvSpPr>
            <a:spLocks xmlns:a="http://schemas.openxmlformats.org/drawingml/2006/main" noGrp="1"/>
          </p:cNvSpPr>
          <p:nvPr/>
        </p:nvSpPr>
        <p:spPr>
          <a:xfrm xmlns:a="http://schemas.openxmlformats.org/drawingml/2006/main">
            <a:off x="737235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DATA GRANTED</a:t>
            </a:r>
          </a:p>
        </p:txBody>
      </p:sp>
      <p:sp>
        <p:nvSpPr>
          <p:cNvPr id="23" name="">
            <a:extLst xmlns:a="http://schemas.openxmlformats.org/drawingml/2006/main">
              <a:ext uri="{FF2B5EF4-FFF2-40B4-BE49-F238E27FC236}">
                <a16:creationId xmlns:a16="http://schemas.microsoft.com/office/drawing/2014/main" id="{FB2E229E-E1C0-4D73-8F88-B41D97E330EB}"/>
              </a:ext>
            </a:extLst>
          </p:cNvPr>
          <p:cNvSpPr>
            <a:spLocks xmlns:a="http://schemas.openxmlformats.org/drawingml/2006/main" noGrp="1"/>
          </p:cNvSpPr>
          <p:nvPr/>
        </p:nvSpPr>
        <p:spPr>
          <a:xfrm xmlns:a="http://schemas.openxmlformats.org/drawingml/2006/main">
            <a:off x="737235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i="0">
                <a:solidFill>
                  <a:srgbClr val="5F6E66"/>
                </a:solidFill>
                <a:latin typeface="Arial"/>
                <a:ea typeface="Arial"/>
                <a:cs typeface="Arial"/>
              </a:defRPr>
            </a:pPr>
            <a:r>
              <a:rPr sz="1200" b="0" i="0">
                <a:solidFill>
                  <a:srgbClr val="5F6E66"/>
                </a:solidFill>
                <a:latin typeface="Arial"/>
                <a:ea typeface="Arial"/>
                <a:cs typeface="Arial"/>
              </a:rPr>
              <a:t>30 days demand + PV + outage exports</a:t>
            </a:r>
          </a:p>
        </p:txBody>
      </p:sp>
      <p:sp>
        <p:nvSpPr>
          <p:cNvPr id="24" name="">
            <a:extLst xmlns:a="http://schemas.openxmlformats.org/drawingml/2006/main">
              <a:ext uri="{FF2B5EF4-FFF2-40B4-BE49-F238E27FC236}">
                <a16:creationId xmlns:a16="http://schemas.microsoft.com/office/drawing/2014/main" id="{7A3C5A45-91F2-473D-9098-EC6C582CC4B5}"/>
              </a:ext>
            </a:extLst>
          </p:cNvPr>
          <p:cNvSpPr>
            <a:spLocks xmlns:a="http://schemas.openxmlformats.org/drawingml/2006/main" noGrp="1"/>
          </p:cNvSpPr>
          <p:nvPr/>
        </p:nvSpPr>
        <p:spPr>
          <a:xfrm xmlns:a="http://schemas.openxmlformats.org/drawingml/2006/main">
            <a:off x="9220200" y="3257550"/>
            <a:ext cx="171450" cy="19050"/>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7CB7382-818F-46E9-8075-AD74E8CF95BA}"/>
              </a:ext>
            </a:extLst>
          </p:cNvPr>
          <p:cNvSpPr>
            <a:spLocks xmlns:a="http://schemas.openxmlformats.org/drawingml/2006/main" noGrp="1"/>
          </p:cNvSpPr>
          <p:nvPr/>
        </p:nvSpPr>
        <p:spPr>
          <a:xfrm xmlns:a="http://schemas.openxmlformats.org/drawingml/2006/main">
            <a:off x="9372600" y="2266950"/>
            <a:ext cx="1952625" cy="2419350"/>
          </a:xfrm>
          <a:prstGeom xmlns:a="http://schemas.openxmlformats.org/drawingml/2006/main" prst="roundRect">
            <a:avLst>
              <a:gd name="adj" fmla="val 9756"/>
            </a:avLst>
          </a:prstGeom>
          <a:solidFill xmlns:a="http://schemas.openxmlformats.org/drawingml/2006/main">
            <a:srgbClr val="F7F5EF"/>
          </a:solidFill>
          <a:ln xmlns:a="http://schemas.openxmlformats.org/drawingml/2006/main" w="9525">
            <a:solidFill>
              <a:srgbClr val="D8DED7"/>
            </a:solidFill>
          </a:ln>
        </p:spPr>
      </p:sp>
      <p:sp>
        <p:nvSpPr>
          <p:cNvPr id="26" name="">
            <a:extLst xmlns:a="http://schemas.openxmlformats.org/drawingml/2006/main">
              <a:ext uri="{FF2B5EF4-FFF2-40B4-BE49-F238E27FC236}">
                <a16:creationId xmlns:a16="http://schemas.microsoft.com/office/drawing/2014/main" id="{D4154403-212E-4781-A3AD-8020BA97868C}"/>
              </a:ext>
            </a:extLst>
          </p:cNvPr>
          <p:cNvSpPr>
            <a:spLocks xmlns:a="http://schemas.openxmlformats.org/drawingml/2006/main" noGrp="1"/>
          </p:cNvSpPr>
          <p:nvPr/>
        </p:nvSpPr>
        <p:spPr>
          <a:xfrm xmlns:a="http://schemas.openxmlformats.org/drawingml/2006/main">
            <a:off x="9563100" y="24574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1" i="0">
                <a:solidFill>
                  <a:srgbClr val="835C3B"/>
                </a:solidFill>
                <a:latin typeface="Arial"/>
                <a:ea typeface="Arial"/>
                <a:cs typeface="Arial"/>
              </a:defRPr>
            </a:pPr>
            <a:r>
              <a:rPr sz="1200" b="1" i="0">
                <a:solidFill>
                  <a:srgbClr val="835C3B"/>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1F2F5477-86B1-421F-A1FA-B1CF8A2196A4}"/>
              </a:ext>
            </a:extLst>
          </p:cNvPr>
          <p:cNvSpPr>
            <a:spLocks xmlns:a="http://schemas.openxmlformats.org/drawingml/2006/main" noGrp="1"/>
          </p:cNvSpPr>
          <p:nvPr/>
        </p:nvSpPr>
        <p:spPr>
          <a:xfrm xmlns:a="http://schemas.openxmlformats.org/drawingml/2006/main">
            <a:off x="9563100" y="2952750"/>
            <a:ext cx="1571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i="0">
                <a:solidFill>
                  <a:srgbClr val="17362C"/>
                </a:solidFill>
                <a:latin typeface="Arial"/>
                <a:ea typeface="Arial"/>
                <a:cs typeface="Arial"/>
              </a:defRPr>
            </a:pPr>
            <a:r>
              <a:rPr sz="1350" b="1" i="0">
                <a:solidFill>
                  <a:srgbClr val="17362C"/>
                </a:solidFill>
                <a:latin typeface="Arial"/>
                <a:ea typeface="Arial"/>
                <a:cs typeface="Arial"/>
              </a:rPr>
              <a:t>COMMISSIONED</a:t>
            </a:r>
          </a:p>
        </p:txBody>
      </p:sp>
      <p:sp>
        <p:nvSpPr>
          <p:cNvPr id="28" name="">
            <a:extLst xmlns:a="http://schemas.openxmlformats.org/drawingml/2006/main">
              <a:ext uri="{FF2B5EF4-FFF2-40B4-BE49-F238E27FC236}">
                <a16:creationId xmlns:a16="http://schemas.microsoft.com/office/drawing/2014/main" id="{8F05E634-0DF0-435A-ACDA-E807736E310D}"/>
              </a:ext>
            </a:extLst>
          </p:cNvPr>
          <p:cNvSpPr>
            <a:spLocks xmlns:a="http://schemas.openxmlformats.org/drawingml/2006/main" noGrp="1"/>
          </p:cNvSpPr>
          <p:nvPr/>
        </p:nvSpPr>
        <p:spPr>
          <a:xfrm xmlns:a="http://schemas.openxmlformats.org/drawingml/2006/main">
            <a:off x="9563100" y="3619500"/>
            <a:ext cx="1571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i="0">
                <a:solidFill>
                  <a:srgbClr val="5F6E66"/>
                </a:solidFill>
                <a:latin typeface="Arial"/>
                <a:ea typeface="Arial"/>
                <a:cs typeface="Arial"/>
              </a:defRPr>
            </a:pPr>
            <a:r>
              <a:rPr sz="1200" b="0" i="0">
                <a:solidFill>
                  <a:srgbClr val="5F6E66"/>
                </a:solidFill>
                <a:latin typeface="Arial"/>
                <a:ea typeface="Arial"/>
                <a:cs typeface="Arial"/>
              </a:rPr>
              <a:t>Quality-gated Jaipur site fingerprint</a:t>
            </a:r>
          </a:p>
        </p:txBody>
      </p:sp>
      <p:sp>
        <p:nvSpPr>
          <p:cNvPr id="29" name="">
            <a:extLst xmlns:a="http://schemas.openxmlformats.org/drawingml/2006/main">
              <a:ext uri="{FF2B5EF4-FFF2-40B4-BE49-F238E27FC236}">
                <a16:creationId xmlns:a16="http://schemas.microsoft.com/office/drawing/2014/main" id="{5C62DC01-F8B9-4965-9428-C6AA5A6692AC}"/>
              </a:ext>
            </a:extLst>
          </p:cNvPr>
          <p:cNvSpPr>
            <a:spLocks xmlns:a="http://schemas.openxmlformats.org/drawingml/2006/main" noGrp="1"/>
          </p:cNvSpPr>
          <p:nvPr/>
        </p:nvSpPr>
        <p:spPr>
          <a:xfrm xmlns:a="http://schemas.openxmlformats.org/drawingml/2006/main">
            <a:off x="609600" y="5086350"/>
            <a:ext cx="10715625" cy="800100"/>
          </a:xfrm>
          <a:prstGeom xmlns:a="http://schemas.openxmlformats.org/drawingml/2006/main" prst="roundRect">
            <a:avLst>
              <a:gd name="adj" fmla="val 21429"/>
            </a:avLst>
          </a:prstGeom>
          <a:solidFill xmlns:a="http://schemas.openxmlformats.org/drawingml/2006/main">
            <a:srgbClr val="17362C"/>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8D42C39-D3EC-4C42-B0F9-9397F62B19DB}"/>
              </a:ext>
            </a:extLst>
          </p:cNvPr>
          <p:cNvSpPr>
            <a:spLocks xmlns:a="http://schemas.openxmlformats.org/drawingml/2006/main" noGrp="1"/>
          </p:cNvSpPr>
          <p:nvPr/>
        </p:nvSpPr>
        <p:spPr>
          <a:xfrm xmlns:a="http://schemas.openxmlformats.org/drawingml/2006/main">
            <a:off x="857250" y="5267325"/>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defRPr sz="975" b="1" i="0">
                <a:solidFill>
                  <a:srgbClr val="DCE8C9"/>
                </a:solidFill>
                <a:latin typeface="Arial"/>
                <a:ea typeface="Arial"/>
                <a:cs typeface="Arial"/>
              </a:defRPr>
            </a:pPr>
            <a:r>
              <a:rPr sz="975" b="1" i="0">
                <a:solidFill>
                  <a:srgbClr val="DCE8C9"/>
                </a:solidFill>
                <a:latin typeface="Arial"/>
                <a:ea typeface="Arial"/>
                <a:cs typeface="Arial"/>
              </a:rPr>
              <a:t>CURRENT TRUTH</a:t>
            </a:r>
          </a:p>
        </p:txBody>
      </p:sp>
      <p:sp>
        <p:nvSpPr>
          <p:cNvPr id="31" name="">
            <a:extLst xmlns:a="http://schemas.openxmlformats.org/drawingml/2006/main">
              <a:ext uri="{FF2B5EF4-FFF2-40B4-BE49-F238E27FC236}">
                <a16:creationId xmlns:a16="http://schemas.microsoft.com/office/drawing/2014/main" id="{5BE56594-5AC6-4638-9075-EDF530DB5345}"/>
              </a:ext>
            </a:extLst>
          </p:cNvPr>
          <p:cNvSpPr>
            <a:spLocks xmlns:a="http://schemas.openxmlformats.org/drawingml/2006/main" noGrp="1"/>
          </p:cNvSpPr>
          <p:nvPr/>
        </p:nvSpPr>
        <p:spPr>
          <a:xfrm xmlns:a="http://schemas.openxmlformats.org/drawingml/2006/main">
            <a:off x="2381250" y="521970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1" i="0">
                <a:solidFill>
                  <a:srgbClr val="FFFFFF"/>
                </a:solidFill>
                <a:latin typeface="Arial"/>
                <a:ea typeface="Arial"/>
                <a:cs typeface="Arial"/>
              </a:defRPr>
            </a:pPr>
            <a:r>
              <a:rPr sz="1650" b="1" i="0">
                <a:solidFill>
                  <a:srgbClr val="FFFFFF"/>
                </a:solidFill>
                <a:latin typeface="Arial"/>
                <a:ea typeface="Arial"/>
                <a:cs typeface="Arial"/>
              </a:rPr>
              <a:t>No partnership is claimed yet. Next proof: a named reviewer reply.</a:t>
            </a:r>
          </a:p>
        </p:txBody>
      </p:sp>
      <p:sp>
        <p:nvSpPr>
          <p:cNvPr id="32" name="">
            <a:extLst xmlns:a="http://schemas.openxmlformats.org/drawingml/2006/main">
              <a:ext uri="{FF2B5EF4-FFF2-40B4-BE49-F238E27FC236}">
                <a16:creationId xmlns:a16="http://schemas.microsoft.com/office/drawing/2014/main" id="{B9CA68AD-F2BB-4AB4-9213-CDD30B1B5C1D}"/>
              </a:ext>
            </a:extLst>
          </p:cNvPr>
          <p:cNvSpPr>
            <a:spLocks xmlns:a="http://schemas.openxmlformats.org/drawingml/2006/main" noGrp="1"/>
          </p:cNvSpPr>
          <p:nvPr/>
        </p:nvSpPr>
        <p:spPr>
          <a:xfrm xmlns:a="http://schemas.openxmlformats.org/drawingml/2006/main">
            <a:off x="609600" y="63055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defRPr sz="975" b="0" i="0">
                <a:solidFill>
                  <a:srgbClr val="5F6E66"/>
                </a:solidFill>
                <a:latin typeface="Arial"/>
                <a:ea typeface="Arial"/>
                <a:cs typeface="Arial"/>
              </a:defRPr>
            </a:pPr>
            <a:r>
              <a:rPr sz="975" b="0" i="0">
                <a:solidFill>
                  <a:srgbClr val="5F6E66"/>
                </a:solidFill>
                <a:latin typeface="Arial"/>
                <a:ea typeface="Arial"/>
                <a:cs typeface="Arial"/>
              </a:rPr>
              <a:t>Priority collaborators: SMS Hospital operations / CMO office, Aavas Foundation, Gram Bharati Samiti</a:t>
            </a:r>
          </a:p>
        </p:txBody>
      </p:sp>
    </p:spTree>
    <p:extLst>
      <p:ext uri="{BB962C8B-B14F-4D97-AF65-F5344CB8AC3E}">
        <p14:creationId xmlns:p14="http://schemas.microsoft.com/office/powerpoint/2010/main" val="678387338"/>
      </p:ext>
    </p:extLst>
  </p:cSld>
</p:sld>
</file>

<file path=ppt/slides/slide7.xml><?xml version="1.0" encoding="utf-8"?>
<p:sld xmlns:p="http://schemas.openxmlformats.org/presentationml/2006/main">
  <p:cSld>
    <p:bg>
      <p:bgPr>
        <a:solidFill xmlns:a="http://schemas.openxmlformats.org/drawingml/2006/main">
          <a:srgbClr val="17362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b186f90bc06425b"/>
          <a:srcRect xmlns:a="http://schemas.openxmlformats.org/drawingml/2006/main" l="9201" t="0" r="9201" b="0"/>
          <a:stretch xmlns:a="http://schemas.openxmlformats.org/drawingml/2006/main">
            <a:fillRect l="0" t="0" r="0" b="0"/>
          </a:stretch>
        </p:blipFill>
        <p:spPr>
          <a:xfrm xmlns:a="http://schemas.openxmlformats.org/drawingml/2006/main">
            <a:off x="7715250" y="0"/>
            <a:ext cx="4476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1B08E5-2BAE-4B15-8FC6-4D8336B379A6}"/>
              </a:ext>
            </a:extLst>
          </p:cNvPr>
          <p:cNvSpPr>
            <a:spLocks xmlns:a="http://schemas.openxmlformats.org/drawingml/2006/main" noGrp="1"/>
          </p:cNvSpPr>
          <p:nvPr/>
        </p:nvSpPr>
        <p:spPr>
          <a:xfrm xmlns:a="http://schemas.openxmlformats.org/drawingml/2006/main">
            <a:off x="7239000" y="0"/>
            <a:ext cx="1047750" cy="6858000"/>
          </a:xfrm>
          <a:prstGeom xmlns:a="http://schemas.openxmlformats.org/drawingml/2006/main" prst="rect">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0CF1FD2-F3EA-4FDD-A1FD-8BEB4E5B43A4}"/>
              </a:ext>
            </a:extLst>
          </p:cNvPr>
          <p:cNvSpPr>
            <a:spLocks xmlns:a="http://schemas.openxmlformats.org/drawingml/2006/main" noGrp="1"/>
          </p:cNvSpPr>
          <p:nvPr/>
        </p:nvSpPr>
        <p:spPr>
          <a:xfrm xmlns:a="http://schemas.openxmlformats.org/drawingml/2006/main">
            <a:off x="609600" y="5715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p xmlns:a="http://schemas.openxmlformats.org/drawingml/2006/main">
            <a:pPr>
              <a:defRPr sz="1050" b="1" i="0">
                <a:solidFill>
                  <a:srgbClr val="DCE8C9"/>
                </a:solidFill>
                <a:latin typeface="Arial"/>
                <a:ea typeface="Arial"/>
                <a:cs typeface="Arial"/>
              </a:defRPr>
            </a:pPr>
            <a:r>
              <a:rPr sz="1050" b="1" i="0">
                <a:solidFill>
                  <a:srgbClr val="DCE8C9"/>
                </a:solidFill>
                <a:latin typeface="Arial"/>
                <a:ea typeface="Arial"/>
                <a:cs typeface="Arial"/>
              </a:rPr>
              <a:t>THE ASK</a:t>
            </a:r>
          </a:p>
        </p:txBody>
      </p:sp>
      <p:sp>
        <p:nvSpPr>
          <p:cNvPr id="4" name="">
            <a:extLst xmlns:a="http://schemas.openxmlformats.org/drawingml/2006/main">
              <a:ext uri="{FF2B5EF4-FFF2-40B4-BE49-F238E27FC236}">
                <a16:creationId xmlns:a16="http://schemas.microsoft.com/office/drawing/2014/main" id="{0FEA5E74-CA30-4518-A22B-B3079652B38D}"/>
              </a:ext>
            </a:extLst>
          </p:cNvPr>
          <p:cNvSpPr>
            <a:spLocks xmlns:a="http://schemas.openxmlformats.org/drawingml/2006/main" noGrp="1"/>
          </p:cNvSpPr>
          <p:nvPr/>
        </p:nvSpPr>
        <p:spPr>
          <a:xfrm xmlns:a="http://schemas.openxmlformats.org/drawingml/2006/main">
            <a:off x="609600" y="1104900"/>
            <a:ext cx="619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4125" b="1" i="0">
                <a:solidFill>
                  <a:srgbClr val="FFFFFF"/>
                </a:solidFill>
                <a:latin typeface="Arial"/>
                <a:ea typeface="Arial"/>
                <a:cs typeface="Arial"/>
              </a:defRPr>
            </a:pPr>
            <a:r>
              <a:rPr sz="4125" b="1" i="0">
                <a:solidFill>
                  <a:srgbClr val="FFFFFF"/>
                </a:solidFill>
                <a:latin typeface="Arial"/>
                <a:ea typeface="Arial"/>
                <a:cs typeface="Arial"/>
              </a:rPr>
              <a:t>Make Jaipur’s</a:t>
            </a:r>
          </a:p>
          <a:p xmlns:a="http://schemas.openxmlformats.org/drawingml/2006/main">
            <a:pPr>
              <a:defRPr sz="4125" b="1" i="0">
                <a:solidFill>
                  <a:srgbClr val="FFFFFF"/>
                </a:solidFill>
                <a:latin typeface="Arial"/>
                <a:ea typeface="Arial"/>
                <a:cs typeface="Arial"/>
              </a:defRPr>
            </a:pPr>
            <a:r>
              <a:rPr sz="4125" b="1" i="0">
                <a:solidFill>
                  <a:srgbClr val="FFFFFF"/>
                </a:solidFill>
                <a:latin typeface="Arial"/>
                <a:ea typeface="Arial"/>
                <a:cs typeface="Arial"/>
              </a:rPr>
              <a:t>next outage boring.</a:t>
            </a:r>
          </a:p>
        </p:txBody>
      </p:sp>
      <p:sp>
        <p:nvSpPr>
          <p:cNvPr id="5" name="">
            <a:extLst xmlns:a="http://schemas.openxmlformats.org/drawingml/2006/main">
              <a:ext uri="{FF2B5EF4-FFF2-40B4-BE49-F238E27FC236}">
                <a16:creationId xmlns:a16="http://schemas.microsoft.com/office/drawing/2014/main" id="{538F9E21-78E2-4878-A614-D5671EF048DE}"/>
              </a:ext>
            </a:extLst>
          </p:cNvPr>
          <p:cNvSpPr>
            <a:spLocks xmlns:a="http://schemas.openxmlformats.org/drawingml/2006/main" noGrp="1"/>
          </p:cNvSpPr>
          <p:nvPr/>
        </p:nvSpPr>
        <p:spPr>
          <a:xfrm xmlns:a="http://schemas.openxmlformats.org/drawingml/2006/main">
            <a:off x="609600" y="325755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26"/>
          </a:bodyPr>
          <a:lstStyle xmlns:a="http://schemas.openxmlformats.org/drawingml/2006/main"/>
          <a:p xmlns:a="http://schemas.openxmlformats.org/drawingml/2006/main">
            <a:pPr>
              <a:defRPr sz="1950" b="1" i="0">
                <a:solidFill>
                  <a:srgbClr val="DCE8C9"/>
                </a:solidFill>
                <a:latin typeface="Arial"/>
                <a:ea typeface="Arial"/>
                <a:cs typeface="Arial"/>
              </a:defRPr>
            </a:pPr>
            <a:r>
              <a:rPr sz="1950" b="1" i="0">
                <a:solidFill>
                  <a:srgbClr val="DCE8C9"/>
                </a:solidFill>
                <a:latin typeface="Arial"/>
                <a:ea typeface="Arial"/>
                <a:cs typeface="Arial"/>
              </a:rPr>
              <a:t>20-minute technical review</a:t>
            </a:r>
          </a:p>
        </p:txBody>
      </p:sp>
      <p:sp>
        <p:nvSpPr>
          <p:cNvPr id="6" name="">
            <a:extLst xmlns:a="http://schemas.openxmlformats.org/drawingml/2006/main">
              <a:ext uri="{FF2B5EF4-FFF2-40B4-BE49-F238E27FC236}">
                <a16:creationId xmlns:a16="http://schemas.microsoft.com/office/drawing/2014/main" id="{4FA136CE-FDD8-48B7-A5FF-1191D098793F}"/>
              </a:ext>
            </a:extLst>
          </p:cNvPr>
          <p:cNvSpPr>
            <a:spLocks xmlns:a="http://schemas.openxmlformats.org/drawingml/2006/main" noGrp="1"/>
          </p:cNvSpPr>
          <p:nvPr/>
        </p:nvSpPr>
        <p:spPr>
          <a:xfrm xmlns:a="http://schemas.openxmlformats.org/drawingml/2006/main">
            <a:off x="609600" y="374332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00" b="1" i="0">
                <a:solidFill>
                  <a:srgbClr val="FFFFFF"/>
                </a:solidFill>
                <a:latin typeface="Arial"/>
                <a:ea typeface="Arial"/>
                <a:cs typeface="Arial"/>
              </a:defRPr>
            </a:pPr>
            <a:r>
              <a:rPr sz="1800" b="1" i="0">
                <a:solidFill>
                  <a:srgbClr val="FFFFFF"/>
                </a:solidFill>
                <a:latin typeface="Arial"/>
                <a:ea typeface="Arial"/>
                <a:cs typeface="Arial"/>
              </a:rPr>
              <a:t>+ 30 days of demand, PV and outage exports</a:t>
            </a:r>
          </a:p>
        </p:txBody>
      </p:sp>
      <p:sp>
        <p:nvSpPr>
          <p:cNvPr id="7" name="">
            <a:extLst xmlns:a="http://schemas.openxmlformats.org/drawingml/2006/main">
              <a:ext uri="{FF2B5EF4-FFF2-40B4-BE49-F238E27FC236}">
                <a16:creationId xmlns:a16="http://schemas.microsoft.com/office/drawing/2014/main" id="{490C299F-0F09-4393-A28A-CAA127A998E5}"/>
              </a:ext>
            </a:extLst>
          </p:cNvPr>
          <p:cNvSpPr>
            <a:spLocks xmlns:a="http://schemas.openxmlformats.org/drawingml/2006/main" noGrp="1"/>
          </p:cNvSpPr>
          <p:nvPr/>
        </p:nvSpPr>
        <p:spPr>
          <a:xfrm xmlns:a="http://schemas.openxmlformats.org/drawingml/2006/main">
            <a:off x="609600" y="4514850"/>
            <a:ext cx="5905500" cy="38100"/>
          </a:xfrm>
          <a:prstGeom xmlns:a="http://schemas.openxmlformats.org/drawingml/2006/main" prst="rect">
            <a:avLst/>
          </a:prstGeom>
          <a:solidFill xmlns:a="http://schemas.openxmlformats.org/drawingml/2006/main">
            <a:srgbClr val="8EAA8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E3CAA55-F8AF-413A-872C-86D88FDFCDF1}"/>
              </a:ext>
            </a:extLst>
          </p:cNvPr>
          <p:cNvSpPr>
            <a:spLocks xmlns:a="http://schemas.openxmlformats.org/drawingml/2006/main" noGrp="1"/>
          </p:cNvSpPr>
          <p:nvPr/>
        </p:nvSpPr>
        <p:spPr>
          <a:xfrm xmlns:a="http://schemas.openxmlformats.org/drawingml/2006/main">
            <a:off x="609600" y="48958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defRPr sz="975" b="1" i="0">
                <a:solidFill>
                  <a:srgbClr val="8EAA83"/>
                </a:solidFill>
                <a:latin typeface="Arial"/>
                <a:ea typeface="Arial"/>
                <a:cs typeface="Arial"/>
              </a:defRPr>
            </a:pPr>
            <a:r>
              <a:rPr sz="975" b="1" i="0">
                <a:solidFill>
                  <a:srgbClr val="8EAA83"/>
                </a:solidFill>
                <a:latin typeface="Arial"/>
                <a:ea typeface="Arial"/>
                <a:cs typeface="Arial"/>
              </a:rPr>
              <a:t>PUBLIC DEMO</a:t>
            </a:r>
          </a:p>
        </p:txBody>
      </p:sp>
      <p:sp>
        <p:nvSpPr>
          <p:cNvPr id="9" name="">
            <a:extLst xmlns:a="http://schemas.openxmlformats.org/drawingml/2006/main">
              <a:ext uri="{FF2B5EF4-FFF2-40B4-BE49-F238E27FC236}">
                <a16:creationId xmlns:a16="http://schemas.microsoft.com/office/drawing/2014/main" id="{7F012E0C-9F38-4A78-81CD-26BEE8558F1B}"/>
              </a:ext>
            </a:extLst>
          </p:cNvPr>
          <p:cNvSpPr>
            <a:spLocks xmlns:a="http://schemas.openxmlformats.org/drawingml/2006/main" noGrp="1"/>
          </p:cNvSpPr>
          <p:nvPr/>
        </p:nvSpPr>
        <p:spPr>
          <a:xfrm xmlns:a="http://schemas.openxmlformats.org/drawingml/2006/main">
            <a:off x="609600" y="5200650"/>
            <a:ext cx="647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1" i="0">
                <a:solidFill>
                  <a:srgbClr val="FFFFFF"/>
                </a:solidFill>
                <a:latin typeface="Arial"/>
                <a:ea typeface="Arial"/>
                <a:cs typeface="Arial"/>
              </a:defRPr>
            </a:pPr>
            <a:r>
              <a:rPr sz="1500" b="1" i="0">
                <a:solidFill>
                  <a:srgbClr val="FFFFFF"/>
                </a:solidFill>
                <a:latin typeface="Arial"/>
                <a:ea typeface="Arial"/>
                <a:cs typeface="Arial"/>
              </a:rPr>
              <a:t>grounded-peach.vercel.app</a:t>
            </a:r>
          </a:p>
        </p:txBody>
      </p:sp>
      <p:sp>
        <p:nvSpPr>
          <p:cNvPr id="10" name="">
            <a:extLst xmlns:a="http://schemas.openxmlformats.org/drawingml/2006/main">
              <a:ext uri="{FF2B5EF4-FFF2-40B4-BE49-F238E27FC236}">
                <a16:creationId xmlns:a16="http://schemas.microsoft.com/office/drawing/2014/main" id="{4C1B70C1-DE29-4C1E-B5F6-F47A3DF4EF2D}"/>
              </a:ext>
            </a:extLst>
          </p:cNvPr>
          <p:cNvSpPr>
            <a:spLocks xmlns:a="http://schemas.openxmlformats.org/drawingml/2006/main" noGrp="1"/>
          </p:cNvSpPr>
          <p:nvPr/>
        </p:nvSpPr>
        <p:spPr>
          <a:xfrm xmlns:a="http://schemas.openxmlformats.org/drawingml/2006/main">
            <a:off x="609600" y="596265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1" i="0">
                <a:solidFill>
                  <a:srgbClr val="DCE8C9"/>
                </a:solidFill>
                <a:latin typeface="Arial"/>
                <a:ea typeface="Arial"/>
                <a:cs typeface="Arial"/>
              </a:defRPr>
            </a:pPr>
            <a:r>
              <a:rPr sz="1125" b="1" i="0">
                <a:solidFill>
                  <a:srgbClr val="DCE8C9"/>
                </a:solidFill>
                <a:latin typeface="Arial"/>
                <a:ea typeface="Arial"/>
                <a:cs typeface="Arial"/>
              </a:rPr>
              <a:t>Reproducible engine, source-checked Jaipur case, commissioning-ready contract</a:t>
            </a:r>
          </a:p>
        </p:txBody>
      </p:sp>
    </p:spTree>
    <p:extLst>
      <p:ext uri="{BB962C8B-B14F-4D97-AF65-F5344CB8AC3E}">
        <p14:creationId xmlns:p14="http://schemas.microsoft.com/office/powerpoint/2010/main" val="13773847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2026-09-19T09:45:33.7600000Z</dcterms:created>
  <dcterms:modified xsi:type="dcterms:W3CDTF">2026-09-19T09:45:33.7600000Z</dcterms:modified>
</coreProperties>
</file>